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leadership team. Today we present the culmination of our Week 8 Capstone: bridging our Week 7 voice telephony engine with enterprise machine learning to solve two multi-million rupee revenue leaks: pricing inaccuracy and sales calling bandwidth.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objective was never to build models that live in Jupyter notebooks. Our mandate was to solve real operational bottlenecks across Islamabad, Karachi, Lahore, and Rawalpindi.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the asymmetry: missing a serious buyer costs 3 Lac PKR, while making an unnecessary phone call costs only 500 PKR. Any model optimized solely for accuracy will destroy business value.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complete enterprise pipeline. Telephony flows through guardrails into FastAPI, which invokes our ML models and feeds our LangGraph assistant, culminating in instant email dispatches for closers.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data pipeline handles localized realities: parsing Crore and Lac amounts, standardizing Marlas and Kanals, categorizing society tiers, and ensuring zero data leakage between training and validation folds.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champion model is an Optuna-tuned CatBoost regressor delivering an R-squared of 0.9860 and a mean absolute percentage error of only 7.29%. We back this up with 10th and 90th percentile quantile regressors.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Transparency is vital: for properties over 7 Crore PKR, custom fittings and scarce comps cause errors to widen. We implemented an automated rule: listings over 7 Crore trigger a senior appraiser review.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lead scoring, accuracy is a dangerous illusion. Predicting NO every time yields 71.4% accuracy but zero revenue. SMOTE oversampling gave us our champion model with 71% precision and 54% recall.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represents our clearest ROI. Our sales team only has the bandwidth to call 40 leads a day. By ranking with ML, those 40 calls yield 28 conversions instead of 11—a 2.5x lift.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black box score is useless if sales reps don't trust it. We use SHAP to unpack every prediction, then translate it into natural UrduLish so the agent knows exactly why this lead is hot.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unsupervised clustering discovered 4 distinct personas: Overseas Capital Investors, Urgent Family Homebuyers, First-Time Budget Inquirers, and Casual Explorers. Each receives a bespoke sales playbook.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Enterprise software demands enterprise governance. We introduced OOD guards, prompt injection firewalls, legal disclaimers, and SQLite audit logging for every single request.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Financially, this platform delivers a massive return. For a brokerage receiving 1,000 leads a month, we project over 3 Crore PKR in incremental commission, with payback achieved in under 6 weeks.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is complete today. We are containerized and ready for production. Phase 2 introduces drift monitoring and A/B threshold testing, paving the way for multi-city scaling.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32720" cy="3474720"/>
          </a:xfrm>
          <a:prstGeom prst="rect">
            <a:avLst/>
          </a:prstGeom>
          <a:noFill/>
        </p:spPr>
        <p:txBody>
          <a:bodyPr wrap="square">
            <a:spAutoFit/>
          </a:bodyPr>
          <a:lstStyle/>
          <a:p>
            <a:pPr>
              <a:defRPr sz="1400" b="1">
                <a:solidFill>
                  <a:srgbClr val="06B6D4"/>
                </a:solidFill>
                <a:latin typeface="Segoe UI"/>
              </a:defRPr>
            </a:pPr>
            <a:r>
              <a:t>REAL ESTATE HUB — CAPSTONE PROJECT</a:t>
            </a:r>
          </a:p>
          <a:p>
            <a:pPr>
              <a:defRPr sz="3600" b="1">
                <a:solidFill>
                  <a:srgbClr val="FFFFFF"/>
                </a:solidFill>
                <a:latin typeface="Segoe UI"/>
              </a:defRPr>
            </a:pPr>
            <a:r>
              <a:t>AI Property Valuation &amp; Predictive Lead Scoring</a:t>
            </a:r>
          </a:p>
          <a:p>
            <a:pPr>
              <a:defRPr sz="1800">
                <a:solidFill>
                  <a:srgbClr val="94A3B8"/>
                </a:solidFill>
                <a:latin typeface="Segoe UI"/>
              </a:defRPr>
            </a:pPr>
            <a:r>
              <a:t>Executive Stakeholder Presentation &amp; Production Architecture Blueprint</a:t>
            </a:r>
          </a:p>
          <a:p>
            <a:br/>
            <a:pPr>
              <a:defRPr sz="1200">
                <a:solidFill>
                  <a:srgbClr val="10B981"/>
                </a:solidFill>
                <a:latin typeface="Segoe UI"/>
              </a:defRPr>
            </a:pPr>
            <a:r>
              <a:t>Presenter: Machine Learning &amp; Conversational AI Engineering Team</a:t>
            </a:r>
            <a:br/>
            <a:r>
              <a:t>Domain: Pakistan Real Estate • Explainable AI • LangGraph UrduLish Copilot • MLOps</a:t>
            </a:r>
          </a:p>
        </p:txBody>
      </p:sp>
      <p:sp>
        <p:nvSpPr>
          <p:cNvPr id="4" name="Rounded Rectangle 3"/>
          <p:cNvSpPr/>
          <p:nvPr/>
        </p:nvSpPr>
        <p:spPr>
          <a:xfrm>
            <a:off x="914400" y="5212080"/>
            <a:ext cx="3108960" cy="10972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PRICING PRECISION</a:t>
            </a:r>
          </a:p>
          <a:p>
            <a:pPr>
              <a:defRPr sz="2200" b="1">
                <a:solidFill>
                  <a:srgbClr val="10B981"/>
                </a:solidFill>
                <a:latin typeface="Segoe UI"/>
              </a:defRPr>
            </a:pPr>
            <a:r>
              <a:t>7.29% MAPE</a:t>
            </a:r>
          </a:p>
          <a:p>
            <a:pPr>
              <a:defRPr sz="900">
                <a:solidFill>
                  <a:srgbClr val="94A3B8"/>
                </a:solidFill>
                <a:latin typeface="Segoe UI"/>
              </a:defRPr>
            </a:pPr>
            <a:r>
              <a:t>Optuna CatBoost (R² = 0.9860)</a:t>
            </a:r>
          </a:p>
        </p:txBody>
      </p:sp>
      <p:sp>
        <p:nvSpPr>
          <p:cNvPr id="5" name="Rounded Rectangle 4"/>
          <p:cNvSpPr/>
          <p:nvPr/>
        </p:nvSpPr>
        <p:spPr>
          <a:xfrm>
            <a:off x="4389120" y="5212080"/>
            <a:ext cx="3108960" cy="10972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CALLING PRECISION</a:t>
            </a:r>
          </a:p>
          <a:p>
            <a:pPr>
              <a:defRPr sz="2200" b="1">
                <a:solidFill>
                  <a:srgbClr val="10B981"/>
                </a:solidFill>
                <a:latin typeface="Segoe UI"/>
              </a:defRPr>
            </a:pPr>
            <a:r>
              <a:t>71.4% (2.5x Lift)</a:t>
            </a:r>
          </a:p>
          <a:p>
            <a:pPr>
              <a:defRPr sz="900">
                <a:solidFill>
                  <a:srgbClr val="94A3B8"/>
                </a:solidFill>
                <a:latin typeface="Segoe UI"/>
              </a:defRPr>
            </a:pPr>
            <a:r>
              <a:t>Precision@Top-20% (vs 28.6% baseline)</a:t>
            </a:r>
          </a:p>
        </p:txBody>
      </p:sp>
      <p:sp>
        <p:nvSpPr>
          <p:cNvPr id="6" name="Rounded Rectangle 5"/>
          <p:cNvSpPr/>
          <p:nvPr/>
        </p:nvSpPr>
        <p:spPr>
          <a:xfrm>
            <a:off x="7863840" y="5212080"/>
            <a:ext cx="3383280" cy="10972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ANNUAL PROFIT RESCUED</a:t>
            </a:r>
          </a:p>
          <a:p>
            <a:pPr>
              <a:defRPr sz="2200" b="1">
                <a:solidFill>
                  <a:srgbClr val="10B981"/>
                </a:solidFill>
                <a:latin typeface="Segoe UI"/>
              </a:defRPr>
            </a:pPr>
            <a:r>
              <a:t>PKR 1.92 Crore</a:t>
            </a:r>
          </a:p>
          <a:p>
            <a:pPr>
              <a:defRPr sz="900">
                <a:solidFill>
                  <a:srgbClr val="94A3B8"/>
                </a:solidFill>
                <a:latin typeface="Segoe UI"/>
              </a:defRPr>
            </a:pPr>
            <a:r>
              <a:t>Optimized Cost Matrix (th=0.05)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tIns="0" bIns="0" lIns="0">
            <a:spAutoFit/>
          </a:bodyPr>
          <a:lstStyle/>
          <a:p>
            <a:pPr>
              <a:defRPr sz="2600" b="1">
                <a:solidFill>
                  <a:srgbClr val="FFFFFF"/>
                </a:solidFill>
                <a:latin typeface="Segoe UI"/>
              </a:defRPr>
            </a:pPr>
            <a:r>
              <a:t>Executive Summary &amp; Project Mission</a:t>
            </a:r>
          </a:p>
          <a:p>
            <a:pPr>
              <a:defRPr sz="1300">
                <a:solidFill>
                  <a:srgbClr val="06B6D4"/>
                </a:solidFill>
                <a:latin typeface="Segoe UI"/>
              </a:defRPr>
            </a:pPr>
            <a:r>
              <a:t>Transforming gut-feel broker operations into high-precision algorithmic intelligence</a:t>
            </a:r>
          </a:p>
        </p:txBody>
      </p:sp>
      <p:sp>
        <p:nvSpPr>
          <p:cNvPr id="4" name="TextBox 3"/>
          <p:cNvSpPr txBox="1"/>
          <p:nvPr/>
        </p:nvSpPr>
        <p:spPr>
          <a:xfrm>
            <a:off x="731520" y="1463040"/>
            <a:ext cx="5943600" cy="4754880"/>
          </a:xfrm>
          <a:prstGeom prst="rect">
            <a:avLst/>
          </a:prstGeom>
          <a:noFill/>
        </p:spPr>
        <p:txBody>
          <a:bodyPr wrap="square">
            <a:spAutoFit/>
          </a:bodyPr>
          <a:lstStyle/>
          <a:p>
            <a:pPr>
              <a:defRPr sz="1300" b="1">
                <a:solidFill>
                  <a:srgbClr val="06B6D4"/>
                </a:solidFill>
                <a:latin typeface="Segoe UI"/>
              </a:defRPr>
            </a:pPr>
            <a:r>
              <a:t>•  The Business Paradox: </a:t>
            </a:r>
            <a:r>
              <a:rPr b="0">
                <a:solidFill>
                  <a:srgbClr val="FFFFFF"/>
                </a:solidFill>
              </a:rPr>
              <a:t>Brokers price property by intuition, leaving millions on the table or causing listings to stagnate. Meanwhile, sales reps call unqualified inquiries while high-converting buyers walk away.</a:t>
            </a:r>
          </a:p>
          <a:p>
            <a:pPr>
              <a:defRPr sz="1300" b="1">
                <a:solidFill>
                  <a:srgbClr val="06B6D4"/>
                </a:solidFill>
                <a:latin typeface="Segoe UI"/>
              </a:defRPr>
            </a:pPr>
            <a:r>
              <a:t>•  The AI Solution: </a:t>
            </a:r>
            <a:r>
              <a:rPr b="0">
                <a:solidFill>
                  <a:srgbClr val="FFFFFF"/>
                </a:solidFill>
              </a:rPr>
              <a:t>A unified dual-ML ecosystem: an Optuna-tuned CatBoost Valuation Engine that estimates fair market pricing with 7.29% error, plus an imbalanced LightGBM Lead Classifier delivering a 2.50x lift in conversion yield.</a:t>
            </a:r>
          </a:p>
          <a:p>
            <a:pPr>
              <a:defRPr sz="1300" b="1">
                <a:solidFill>
                  <a:srgbClr val="06B6D4"/>
                </a:solidFill>
                <a:latin typeface="Segoe UI"/>
              </a:defRPr>
            </a:pPr>
            <a:r>
              <a:t>•  Transparent Explainability: </a:t>
            </a:r>
            <a:r>
              <a:rPr b="0">
                <a:solidFill>
                  <a:srgbClr val="FFFFFF"/>
                </a:solidFill>
              </a:rPr>
              <a:t>Sales agents get SHAP local waterfall factors translated into native UrduLish so they can immediately understand 'WHY' a lead or price is ranked high.</a:t>
            </a:r>
          </a:p>
          <a:p>
            <a:pPr>
              <a:defRPr sz="1300" b="1">
                <a:solidFill>
                  <a:srgbClr val="06B6D4"/>
                </a:solidFill>
                <a:latin typeface="Segoe UI"/>
              </a:defRPr>
            </a:pPr>
            <a:r>
              <a:t>•  Zero-Hallucination Copilot: </a:t>
            </a:r>
            <a:r>
              <a:rPr b="0">
                <a:solidFill>
                  <a:srgbClr val="FFFFFF"/>
                </a:solidFill>
              </a:rPr>
              <a:t>Integrated LangGraph agent operating in UrduLish that enforces strict grounding: 'The LLM never invents a price—every rupee comes from validated ML tools.'</a:t>
            </a:r>
          </a:p>
        </p:txBody>
      </p:sp>
      <p:sp>
        <p:nvSpPr>
          <p:cNvPr id="5" name="Rounded Rectangle 4"/>
          <p:cNvSpPr/>
          <p:nvPr/>
        </p:nvSpPr>
        <p:spPr>
          <a:xfrm>
            <a:off x="7132320" y="1645920"/>
            <a:ext cx="4297680" cy="12801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DAILY TRAINING BASE</a:t>
            </a:r>
          </a:p>
          <a:p>
            <a:pPr>
              <a:defRPr sz="2200" b="1">
                <a:solidFill>
                  <a:srgbClr val="06B6D4"/>
                </a:solidFill>
                <a:latin typeface="Segoe UI"/>
              </a:defRPr>
            </a:pPr>
            <a:r>
              <a:t>10,480 Listings</a:t>
            </a:r>
          </a:p>
          <a:p>
            <a:pPr>
              <a:defRPr sz="900">
                <a:solidFill>
                  <a:srgbClr val="94A3B8"/>
                </a:solidFill>
                <a:latin typeface="Segoe UI"/>
              </a:defRPr>
            </a:pPr>
            <a:r>
              <a:t>13 Pakistani domain-engineered features</a:t>
            </a:r>
          </a:p>
        </p:txBody>
      </p:sp>
      <p:sp>
        <p:nvSpPr>
          <p:cNvPr id="6" name="Rounded Rectangle 5"/>
          <p:cNvSpPr/>
          <p:nvPr/>
        </p:nvSpPr>
        <p:spPr>
          <a:xfrm>
            <a:off x="7132320" y="3200400"/>
            <a:ext cx="4297680" cy="12801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SALES VELOCITY LIFT</a:t>
            </a:r>
          </a:p>
          <a:p>
            <a:pPr>
              <a:defRPr sz="2200" b="1">
                <a:solidFill>
                  <a:srgbClr val="10B981"/>
                </a:solidFill>
                <a:latin typeface="Segoe UI"/>
              </a:defRPr>
            </a:pPr>
            <a:r>
              <a:t>50% Capture in 20% Calls</a:t>
            </a:r>
          </a:p>
          <a:p>
            <a:pPr>
              <a:defRPr sz="900">
                <a:solidFill>
                  <a:srgbClr val="94A3B8"/>
                </a:solidFill>
                <a:latin typeface="Segoe UI"/>
              </a:defRPr>
            </a:pPr>
            <a:r>
              <a:t>Top 40 leads capture half of all conversions</a:t>
            </a:r>
          </a:p>
        </p:txBody>
      </p:sp>
      <p:sp>
        <p:nvSpPr>
          <p:cNvPr id="7" name="Rounded Rectangle 6"/>
          <p:cNvSpPr/>
          <p:nvPr/>
        </p:nvSpPr>
        <p:spPr>
          <a:xfrm>
            <a:off x="7132320" y="4754880"/>
            <a:ext cx="4297680" cy="12801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ENTERPRISE TELEPHONY SLA</a:t>
            </a:r>
          </a:p>
          <a:p>
            <a:pPr>
              <a:defRPr sz="2200" b="1">
                <a:solidFill>
                  <a:srgbClr val="F59E0B"/>
                </a:solidFill>
                <a:latin typeface="Segoe UI"/>
              </a:defRPr>
            </a:pPr>
            <a:r>
              <a:t>&lt; 15 Min Hot Alert</a:t>
            </a:r>
          </a:p>
          <a:p>
            <a:pPr>
              <a:defRPr sz="900">
                <a:solidFill>
                  <a:srgbClr val="94A3B8"/>
                </a:solidFill>
                <a:latin typeface="Segoe UI"/>
              </a:defRPr>
            </a:pPr>
            <a:r>
              <a:t>Webhook dispatches VIP leads directly to closers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tIns="0" bIns="0" lIns="0">
            <a:spAutoFit/>
          </a:bodyPr>
          <a:lstStyle/>
          <a:p>
            <a:pPr>
              <a:defRPr sz="2600" b="1">
                <a:solidFill>
                  <a:srgbClr val="FFFFFF"/>
                </a:solidFill>
                <a:latin typeface="Segoe UI"/>
              </a:defRPr>
            </a:pPr>
            <a:r>
              <a:t>The Two Financial Bleeds in Real Estate</a:t>
            </a:r>
          </a:p>
          <a:p>
            <a:pPr>
              <a:defRPr sz="1300">
                <a:solidFill>
                  <a:srgbClr val="06B6D4"/>
                </a:solidFill>
                <a:latin typeface="Segoe UI"/>
              </a:defRPr>
            </a:pPr>
            <a:r>
              <a:t>Quantifying the cost of human guesswork across property pricing and lead triage</a:t>
            </a:r>
          </a:p>
        </p:txBody>
      </p:sp>
      <p:sp>
        <p:nvSpPr>
          <p:cNvPr id="4" name="Rounded Rectangle 3"/>
          <p:cNvSpPr/>
          <p:nvPr/>
        </p:nvSpPr>
        <p:spPr>
          <a:xfrm>
            <a:off x="731520" y="1645920"/>
            <a:ext cx="512064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BLEED 1: THE PRICING MISQUOTE TRAP</a:t>
            </a:r>
          </a:p>
          <a:p>
            <a:pPr>
              <a:defRPr sz="2200" b="1">
                <a:solidFill>
                  <a:srgbClr val="F59E0B"/>
                </a:solidFill>
                <a:latin typeface="Segoe UI"/>
              </a:defRPr>
            </a:pPr>
            <a:r>
              <a:t>±25% Valuation Dispersion</a:t>
            </a:r>
          </a:p>
          <a:p>
            <a:pPr>
              <a:defRPr sz="900">
                <a:solidFill>
                  <a:srgbClr val="94A3B8"/>
                </a:solidFill>
                <a:latin typeface="Segoe UI"/>
              </a:defRPr>
            </a:pPr>
            <a:r>
              <a:t>Overpriced listings sit for 180+ days without bids.</a:t>
            </a:r>
            <a:br/>
            <a:r>
              <a:t>Underpriced listings leave 30-50 Lac PKR commission on the table.</a:t>
            </a:r>
            <a:br/>
            <a:r>
              <a:t>Baseline heuristic error: 156 Lac MAE.</a:t>
            </a:r>
          </a:p>
        </p:txBody>
      </p:sp>
      <p:sp>
        <p:nvSpPr>
          <p:cNvPr id="5" name="Rounded Rectangle 4"/>
          <p:cNvSpPr/>
          <p:nvPr/>
        </p:nvSpPr>
        <p:spPr>
          <a:xfrm>
            <a:off x="6309360" y="1645920"/>
            <a:ext cx="512064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BLEED 2: THE CALLING CAPACITY CHOKE</a:t>
            </a:r>
          </a:p>
          <a:p>
            <a:pPr>
              <a:defRPr sz="2200" b="1">
                <a:solidFill>
                  <a:srgbClr val="F59E0B"/>
                </a:solidFill>
                <a:latin typeface="Segoe UI"/>
              </a:defRPr>
            </a:pPr>
            <a:r>
              <a:t>40 Calls for 200 Leads</a:t>
            </a:r>
          </a:p>
          <a:p>
            <a:pPr>
              <a:defRPr sz="900">
                <a:solidFill>
                  <a:srgbClr val="94A3B8"/>
                </a:solidFill>
                <a:latin typeface="Segoe UI"/>
              </a:defRPr>
            </a:pPr>
            <a:r>
              <a:t>Sales desk receives 200 daily inbound leads.</a:t>
            </a:r>
            <a:br/>
            <a:r>
              <a:t>Rep calling capacity is capped at 40 calls/day.</a:t>
            </a:r>
            <a:br/>
            <a:r>
              <a:t>Calling randomly results in calling 71% time-wasters and missing 150 serious buyers.</a:t>
            </a:r>
          </a:p>
        </p:txBody>
      </p:sp>
      <p:sp>
        <p:nvSpPr>
          <p:cNvPr id="6" name="TextBox 5"/>
          <p:cNvSpPr txBox="1"/>
          <p:nvPr/>
        </p:nvSpPr>
        <p:spPr>
          <a:xfrm>
            <a:off x="731520" y="4114800"/>
            <a:ext cx="10698480" cy="2011680"/>
          </a:xfrm>
          <a:prstGeom prst="rect">
            <a:avLst/>
          </a:prstGeom>
          <a:noFill/>
        </p:spPr>
        <p:txBody>
          <a:bodyPr wrap="square">
            <a:spAutoFit/>
          </a:bodyPr>
          <a:lstStyle/>
          <a:p>
            <a:pPr>
              <a:defRPr sz="1300" b="1">
                <a:solidFill>
                  <a:srgbClr val="06B6D4"/>
                </a:solidFill>
                <a:latin typeface="Segoe UI"/>
              </a:defRPr>
            </a:pPr>
            <a:r>
              <a:t>THE ASYMMETRIC COST OF ERROR:</a:t>
            </a:r>
          </a:p>
          <a:p>
            <a:pPr>
              <a:defRPr sz="1200">
                <a:solidFill>
                  <a:srgbClr val="FFFFFF"/>
                </a:solidFill>
                <a:latin typeface="Segoe UI"/>
              </a:defRPr>
            </a:pPr>
            <a:r>
              <a:t>→  Cost of False Negative (Dropping a real buyer): PKR 300,000 lost commission on a standard 2.5 Crore transaction.</a:t>
            </a:r>
          </a:p>
          <a:p>
            <a:pPr>
              <a:defRPr sz="1200">
                <a:solidFill>
                  <a:srgbClr val="FFFFFF"/>
                </a:solidFill>
                <a:latin typeface="Segoe UI"/>
              </a:defRPr>
            </a:pPr>
            <a:r>
              <a:t>→  Cost of False Positive (Calling an unqualified lead): PKR 500 in wasted 15-minute phone agent labor.</a:t>
            </a:r>
          </a:p>
          <a:p>
            <a:pPr>
              <a:defRPr sz="1200">
                <a:solidFill>
                  <a:srgbClr val="FFFFFF"/>
                </a:solidFill>
                <a:latin typeface="Segoe UI"/>
              </a:defRPr>
            </a:pPr>
            <a:r>
              <a:t>→  Crucial Insight: Missing a buyer is 600x more expensive than making a fruitless call! Standard 0.50 threshold optimization is mathematically fatal.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tIns="0" bIns="0" lIns="0">
            <a:spAutoFit/>
          </a:bodyPr>
          <a:lstStyle/>
          <a:p>
            <a:pPr>
              <a:defRPr sz="2600" b="1">
                <a:solidFill>
                  <a:srgbClr val="FFFFFF"/>
                </a:solidFill>
                <a:latin typeface="Segoe UI"/>
              </a:defRPr>
            </a:pPr>
            <a:r>
              <a:t>Unified System Architecture</a:t>
            </a:r>
          </a:p>
          <a:p>
            <a:pPr>
              <a:defRPr sz="1300">
                <a:solidFill>
                  <a:srgbClr val="06B6D4"/>
                </a:solidFill>
                <a:latin typeface="Segoe UI"/>
              </a:defRPr>
            </a:pPr>
            <a:r>
              <a:t>Bilateral integration from telephony speech gateway to ML serving and CRM</a:t>
            </a:r>
          </a:p>
        </p:txBody>
      </p:sp>
      <p:sp>
        <p:nvSpPr>
          <p:cNvPr id="4" name="TextBox 3"/>
          <p:cNvSpPr txBox="1"/>
          <p:nvPr/>
        </p:nvSpPr>
        <p:spPr>
          <a:xfrm>
            <a:off x="731520" y="1463040"/>
            <a:ext cx="10698480" cy="4754880"/>
          </a:xfrm>
          <a:prstGeom prst="rect">
            <a:avLst/>
          </a:prstGeom>
          <a:noFill/>
        </p:spPr>
        <p:txBody>
          <a:bodyPr wrap="square">
            <a:spAutoFit/>
          </a:bodyPr>
          <a:lstStyle/>
          <a:p>
            <a:pPr>
              <a:defRPr sz="1300" b="1">
                <a:solidFill>
                  <a:srgbClr val="06B6D4"/>
                </a:solidFill>
                <a:latin typeface="Segoe UI"/>
              </a:defRPr>
            </a:pPr>
            <a:r>
              <a:t>1. Ingestion Layer: </a:t>
            </a:r>
            <a:r>
              <a:rPr b="0">
                <a:solidFill>
                  <a:srgbClr val="FFFFFF"/>
                </a:solidFill>
              </a:rPr>
              <a:t>Inbound Telephony (Vapi/Twilio), Deepgram STT, and Web CRM forms capture Urdu/English inquiries.</a:t>
            </a:r>
          </a:p>
          <a:p>
            <a:pPr>
              <a:defRPr sz="1300" b="1">
                <a:solidFill>
                  <a:srgbClr val="06B6D4"/>
                </a:solidFill>
                <a:latin typeface="Segoe UI"/>
              </a:defRPr>
            </a:pPr>
            <a:r>
              <a:t>2. Security &amp; Guardrails: </a:t>
            </a:r>
            <a:r>
              <a:rPr b="0">
                <a:solidFill>
                  <a:srgbClr val="FFFFFF"/>
                </a:solidFill>
              </a:rPr>
              <a:t>Out-of-Distribution filter (1-100 Marla, verified cities), adversarial prompt-injection shield, and non-certified valuation disclaimers.</a:t>
            </a:r>
          </a:p>
          <a:p>
            <a:pPr>
              <a:defRPr sz="1300" b="1">
                <a:solidFill>
                  <a:srgbClr val="06B6D4"/>
                </a:solidFill>
                <a:latin typeface="Segoe UI"/>
              </a:defRPr>
            </a:pPr>
            <a:r>
              <a:t>3. FastAPI Serving Layer (Port 8000): </a:t>
            </a:r>
            <a:r>
              <a:rPr b="0">
                <a:solidFill>
                  <a:srgbClr val="FFFFFF"/>
                </a:solidFill>
              </a:rPr>
              <a:t>Sub-50ms REST API endpoints for /predict/price, /predict/lead-score, /explain/lead, /explain/price, and batch CSV processing.</a:t>
            </a:r>
          </a:p>
          <a:p>
            <a:pPr>
              <a:defRPr sz="1300" b="1">
                <a:solidFill>
                  <a:srgbClr val="06B6D4"/>
                </a:solidFill>
                <a:latin typeface="Segoe UI"/>
              </a:defRPr>
            </a:pPr>
            <a:r>
              <a:t>4. ML Serving Engines: </a:t>
            </a:r>
            <a:r>
              <a:rPr b="0">
                <a:solidFill>
                  <a:srgbClr val="FFFFFF"/>
                </a:solidFill>
              </a:rPr>
              <a:t>CatBoost Regressor (R²=0.9860) with 10th/90th Quantile Bounds + LightGBM SMOTE Classifier (ROC-AUC=0.8201) + K-Means Persona Clustering.</a:t>
            </a:r>
          </a:p>
          <a:p>
            <a:pPr>
              <a:defRPr sz="1300" b="1">
                <a:solidFill>
                  <a:srgbClr val="06B6D4"/>
                </a:solidFill>
                <a:latin typeface="Segoe UI"/>
              </a:defRPr>
            </a:pPr>
            <a:r>
              <a:t>5. LangGraph UrduLish Copilot: </a:t>
            </a:r>
            <a:r>
              <a:rPr b="0">
                <a:solidFill>
                  <a:srgbClr val="FFFFFF"/>
                </a:solidFill>
              </a:rPr>
              <a:t>StateGraph state machine with 5 validated tools, enforcing zero LLM price hallucination.</a:t>
            </a:r>
          </a:p>
          <a:p>
            <a:pPr>
              <a:defRPr sz="1300" b="1">
                <a:solidFill>
                  <a:srgbClr val="06B6D4"/>
                </a:solidFill>
                <a:latin typeface="Segoe UI"/>
              </a:defRPr>
            </a:pPr>
            <a:r>
              <a:t>6. Actionable Outputs: </a:t>
            </a:r>
            <a:r>
              <a:rPr b="0">
                <a:solidFill>
                  <a:srgbClr val="FFFFFF"/>
                </a:solidFill>
              </a:rPr>
              <a:t>Automated VIP Hot Lead email alerts dispatched in &lt; 15 mins; Streamlit Luxury Portal for sales desk closers.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tIns="0" bIns="0" lIns="0">
            <a:spAutoFit/>
          </a:bodyPr>
          <a:lstStyle/>
          <a:p>
            <a:pPr>
              <a:defRPr sz="2600" b="1">
                <a:solidFill>
                  <a:srgbClr val="FFFFFF"/>
                </a:solidFill>
                <a:latin typeface="Segoe UI"/>
              </a:defRPr>
            </a:pPr>
            <a:r>
              <a:t>Data Engineering &amp; Feature Store</a:t>
            </a:r>
          </a:p>
          <a:p>
            <a:pPr>
              <a:defRPr sz="1300">
                <a:solidFill>
                  <a:srgbClr val="06B6D4"/>
                </a:solidFill>
                <a:latin typeface="Segoe UI"/>
              </a:defRPr>
            </a:pPr>
            <a:r>
              <a:t>13 Pakistani domain features engineered across 10,480 listings and 3,496 leads</a:t>
            </a:r>
          </a:p>
        </p:txBody>
      </p:sp>
      <p:sp>
        <p:nvSpPr>
          <p:cNvPr id="4" name="Rounded Rectangle 3"/>
          <p:cNvSpPr/>
          <p:nvPr/>
        </p:nvSpPr>
        <p:spPr>
          <a:xfrm>
            <a:off x="731520" y="1645920"/>
            <a:ext cx="3291840" cy="11887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LISTING RECORDS</a:t>
            </a:r>
          </a:p>
          <a:p>
            <a:pPr>
              <a:defRPr sz="2200" b="1">
                <a:solidFill>
                  <a:srgbClr val="10B981"/>
                </a:solidFill>
                <a:latin typeface="Segoe UI"/>
              </a:defRPr>
            </a:pPr>
            <a:r>
              <a:t>10,480 Clean Listings</a:t>
            </a:r>
          </a:p>
          <a:p>
            <a:pPr>
              <a:defRPr sz="900">
                <a:solidFill>
                  <a:srgbClr val="94A3B8"/>
                </a:solidFill>
                <a:latin typeface="Segoe UI"/>
              </a:defRPr>
            </a:pPr>
            <a:r>
              <a:t>4 Major Metros (ISB, KHI, LHE, RWP)</a:t>
            </a:r>
          </a:p>
        </p:txBody>
      </p:sp>
      <p:sp>
        <p:nvSpPr>
          <p:cNvPr id="5" name="Rounded Rectangle 4"/>
          <p:cNvSpPr/>
          <p:nvPr/>
        </p:nvSpPr>
        <p:spPr>
          <a:xfrm>
            <a:off x="4389120" y="1645920"/>
            <a:ext cx="3291840" cy="11887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CRM LEAD RECORDS</a:t>
            </a:r>
          </a:p>
          <a:p>
            <a:pPr>
              <a:defRPr sz="2200" b="1">
                <a:solidFill>
                  <a:srgbClr val="10B981"/>
                </a:solidFill>
                <a:latin typeface="Segoe UI"/>
              </a:defRPr>
            </a:pPr>
            <a:r>
              <a:t>3,496 Verified Leads</a:t>
            </a:r>
          </a:p>
          <a:p>
            <a:pPr>
              <a:defRPr sz="900">
                <a:solidFill>
                  <a:srgbClr val="94A3B8"/>
                </a:solidFill>
                <a:latin typeface="Segoe UI"/>
              </a:defRPr>
            </a:pPr>
            <a:r>
              <a:t>Stratified 70/15/15 train-val-test split</a:t>
            </a:r>
          </a:p>
        </p:txBody>
      </p:sp>
      <p:sp>
        <p:nvSpPr>
          <p:cNvPr id="6" name="Rounded Rectangle 5"/>
          <p:cNvSpPr/>
          <p:nvPr/>
        </p:nvSpPr>
        <p:spPr>
          <a:xfrm>
            <a:off x="8046720" y="1645920"/>
            <a:ext cx="3383280" cy="11887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DATA LEAKAGE AUDIT</a:t>
            </a:r>
          </a:p>
          <a:p>
            <a:pPr>
              <a:defRPr sz="2200" b="1">
                <a:solidFill>
                  <a:srgbClr val="10B981"/>
                </a:solidFill>
                <a:latin typeface="Segoe UI"/>
              </a:defRPr>
            </a:pPr>
            <a:r>
              <a:t>100% Zero Leakage</a:t>
            </a:r>
          </a:p>
          <a:p>
            <a:pPr>
              <a:defRPr sz="900">
                <a:solidFill>
                  <a:srgbClr val="94A3B8"/>
                </a:solidFill>
                <a:latin typeface="Segoe UI"/>
              </a:defRPr>
            </a:pPr>
            <a:r>
              <a:t>Strict pipeline encapsulation</a:t>
            </a:r>
          </a:p>
        </p:txBody>
      </p:sp>
      <p:sp>
        <p:nvSpPr>
          <p:cNvPr id="7" name="TextBox 6"/>
          <p:cNvSpPr txBox="1"/>
          <p:nvPr/>
        </p:nvSpPr>
        <p:spPr>
          <a:xfrm>
            <a:off x="731520" y="3108960"/>
            <a:ext cx="10698480" cy="3291840"/>
          </a:xfrm>
          <a:prstGeom prst="rect">
            <a:avLst/>
          </a:prstGeom>
          <a:noFill/>
        </p:spPr>
        <p:txBody>
          <a:bodyPr wrap="square">
            <a:spAutoFit/>
          </a:bodyPr>
          <a:lstStyle/>
          <a:p>
            <a:pPr>
              <a:defRPr sz="1300" b="1">
                <a:solidFill>
                  <a:srgbClr val="10B981"/>
                </a:solidFill>
                <a:latin typeface="Segoe UI"/>
              </a:defRPr>
            </a:pPr>
            <a:r>
              <a:t>PAKISTANI DOMAIN FEATURE ENGINEERING HIGHLIGHTS:</a:t>
            </a:r>
          </a:p>
          <a:p>
            <a:pPr>
              <a:defRPr sz="1200">
                <a:solidFill>
                  <a:srgbClr val="FFFFFF"/>
                </a:solidFill>
                <a:latin typeface="Segoe UI"/>
              </a:defRPr>
            </a:pPr>
            <a:r>
              <a:t>•  Marla / Kanal Normalizer: Standardizes 1 Kanal = 20 Marla, parsing colloquial Pakistani area units into a continuous numeric metric.</a:t>
            </a:r>
          </a:p>
          <a:p>
            <a:pPr>
              <a:defRPr sz="1200">
                <a:solidFill>
                  <a:srgbClr val="FFFFFF"/>
                </a:solidFill>
                <a:latin typeface="Segoe UI"/>
              </a:defRPr>
            </a:pPr>
            <a:r>
              <a:t>•  Crore &amp; Lac Currency Parser: Accurately converts 1 Crore = 10,000,000 PKR and 1 Lac = 100,000 PKR without loss of precision.</a:t>
            </a:r>
          </a:p>
          <a:p>
            <a:pPr>
              <a:defRPr sz="1200">
                <a:solidFill>
                  <a:srgbClr val="FFFFFF"/>
                </a:solidFill>
                <a:latin typeface="Segoe UI"/>
              </a:defRPr>
            </a:pPr>
            <a:r>
              <a:t>•  Society Tier Classification: 3-tier categorization separating Tier 1 (DHA, Bahria, Gulberg, Clifton) from emerging suburban sectors.</a:t>
            </a:r>
          </a:p>
          <a:p>
            <a:pPr>
              <a:defRPr sz="1200">
                <a:solidFill>
                  <a:srgbClr val="FFFFFF"/>
                </a:solidFill>
                <a:latin typeface="Segoe UI"/>
              </a:defRPr>
            </a:pPr>
            <a:r>
              <a:t>•  Telephony Lead Signals: Call duration, inquiry velocity, site visit booking flag, budget-to-society ratio, and communication channel weight.</a:t>
            </a:r>
          </a:p>
          <a:p>
            <a:pPr>
              <a:defRPr sz="1200">
                <a:solidFill>
                  <a:srgbClr val="FFFFFF"/>
                </a:solidFill>
                <a:latin typeface="Segoe UI"/>
              </a:defRPr>
            </a:pPr>
            <a:r>
              <a:t>•  Robust Transformation: TargetEncoder with smoothing for high-cardinality locations + RobustScaler for outlier-resilient numerical scaling.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tIns="0" bIns="0" lIns="0">
            <a:spAutoFit/>
          </a:bodyPr>
          <a:lstStyle/>
          <a:p>
            <a:pPr>
              <a:defRPr sz="2600" b="1">
                <a:solidFill>
                  <a:srgbClr val="FFFFFF"/>
                </a:solidFill>
                <a:latin typeface="Segoe UI"/>
              </a:defRPr>
            </a:pPr>
            <a:r>
              <a:t>Model 1: Property Valuation Regression</a:t>
            </a:r>
          </a:p>
          <a:p>
            <a:pPr>
              <a:defRPr sz="1300">
                <a:solidFill>
                  <a:srgbClr val="06B6D4"/>
                </a:solidFill>
                <a:latin typeface="Segoe UI"/>
              </a:defRPr>
            </a:pPr>
            <a:r>
              <a:t>Optuna-tuned CatBoost achieves R² = 0.9860 and 7.29% MAPE across test partition</a:t>
            </a:r>
          </a:p>
        </p:txBody>
      </p:sp>
      <p:graphicFrame>
        <p:nvGraphicFramePr>
          <p:cNvPr id="4" name="Table 3"/>
          <p:cNvGraphicFramePr>
            <a:graphicFrameLocks noGrp="1"/>
          </p:cNvGraphicFramePr>
          <p:nvPr/>
        </p:nvGraphicFramePr>
        <p:xfrm>
          <a:off x="731520" y="1645920"/>
          <a:ext cx="10698480" cy="2743200"/>
        </p:xfrm>
        <a:graphic>
          <a:graphicData uri="http://schemas.openxmlformats.org/drawingml/2006/table">
            <a:tbl>
              <a:tblPr firstRow="1" bandRow="1">
                <a:tableStyleId>{5C22544A-7EE6-4342-B048-85BDC9FD1C3A}</a:tableStyleId>
              </a:tblPr>
              <a:tblGrid>
                <a:gridCol w="2926080"/>
                <a:gridCol w="1645920"/>
                <a:gridCol w="1554480"/>
                <a:gridCol w="1463040"/>
                <a:gridCol w="1463040"/>
                <a:gridCol w="1645920"/>
              </a:tblGrid>
              <a:tr h="457200">
                <a:tc>
                  <a:txBody>
                    <a:bodyPr/>
                    <a:lstStyle/>
                    <a:p>
                      <a:pPr>
                        <a:defRPr sz="1100" b="1">
                          <a:solidFill>
                            <a:srgbClr val="06B6D4"/>
                          </a:solidFill>
                          <a:latin typeface="Segoe UI"/>
                        </a:defRPr>
                      </a:pPr>
                      <a:r>
                        <a:t>Model Architecture</a:t>
                      </a:r>
                    </a:p>
                  </a:txBody>
                  <a:tcPr>
                    <a:solidFill>
                      <a:srgbClr val="1E293B"/>
                    </a:solidFill>
                  </a:tcPr>
                </a:tc>
                <a:tc>
                  <a:txBody>
                    <a:bodyPr/>
                    <a:lstStyle/>
                    <a:p>
                      <a:pPr>
                        <a:defRPr sz="1100" b="1">
                          <a:solidFill>
                            <a:srgbClr val="06B6D4"/>
                          </a:solidFill>
                          <a:latin typeface="Segoe UI"/>
                        </a:defRPr>
                      </a:pPr>
                      <a:r>
                        <a:t>MAE (Lac PKR)</a:t>
                      </a:r>
                    </a:p>
                  </a:txBody>
                  <a:tcPr>
                    <a:solidFill>
                      <a:srgbClr val="1E293B"/>
                    </a:solidFill>
                  </a:tcPr>
                </a:tc>
                <a:tc>
                  <a:txBody>
                    <a:bodyPr/>
                    <a:lstStyle/>
                    <a:p>
                      <a:pPr>
                        <a:defRPr sz="1100" b="1">
                          <a:solidFill>
                            <a:srgbClr val="06B6D4"/>
                          </a:solidFill>
                          <a:latin typeface="Segoe UI"/>
                        </a:defRPr>
                      </a:pPr>
                      <a:r>
                        <a:t>RMSE (Crore)</a:t>
                      </a:r>
                    </a:p>
                  </a:txBody>
                  <a:tcPr>
                    <a:solidFill>
                      <a:srgbClr val="1E293B"/>
                    </a:solidFill>
                  </a:tcPr>
                </a:tc>
                <a:tc>
                  <a:txBody>
                    <a:bodyPr/>
                    <a:lstStyle/>
                    <a:p>
                      <a:pPr>
                        <a:defRPr sz="1100" b="1">
                          <a:solidFill>
                            <a:srgbClr val="06B6D4"/>
                          </a:solidFill>
                          <a:latin typeface="Segoe UI"/>
                        </a:defRPr>
                      </a:pPr>
                      <a:r>
                        <a:t>R² Score</a:t>
                      </a:r>
                    </a:p>
                  </a:txBody>
                  <a:tcPr>
                    <a:solidFill>
                      <a:srgbClr val="1E293B"/>
                    </a:solidFill>
                  </a:tcPr>
                </a:tc>
                <a:tc>
                  <a:txBody>
                    <a:bodyPr/>
                    <a:lstStyle/>
                    <a:p>
                      <a:pPr>
                        <a:defRPr sz="1100" b="1">
                          <a:solidFill>
                            <a:srgbClr val="06B6D4"/>
                          </a:solidFill>
                          <a:latin typeface="Segoe UI"/>
                        </a:defRPr>
                      </a:pPr>
                      <a:r>
                        <a:t>MAPE (%)</a:t>
                      </a:r>
                    </a:p>
                  </a:txBody>
                  <a:tcPr>
                    <a:solidFill>
                      <a:srgbClr val="1E293B"/>
                    </a:solidFill>
                  </a:tcPr>
                </a:tc>
                <a:tc>
                  <a:txBody>
                    <a:bodyPr/>
                    <a:lstStyle/>
                    <a:p>
                      <a:pPr>
                        <a:defRPr sz="1100" b="1">
                          <a:solidFill>
                            <a:srgbClr val="06B6D4"/>
                          </a:solidFill>
                          <a:latin typeface="Segoe UI"/>
                        </a:defRPr>
                      </a:pPr>
                      <a:r>
                        <a:t>Outcome</a:t>
                      </a:r>
                    </a:p>
                  </a:txBody>
                  <a:tcPr>
                    <a:solidFill>
                      <a:srgbClr val="1E293B"/>
                    </a:solidFill>
                  </a:tcPr>
                </a:tc>
              </a:tr>
              <a:tr h="457200">
                <a:tc>
                  <a:txBody>
                    <a:bodyPr/>
                    <a:lstStyle/>
                    <a:p>
                      <a:pPr>
                        <a:defRPr sz="1100">
                          <a:solidFill>
                            <a:srgbClr val="FFFFFF"/>
                          </a:solidFill>
                          <a:latin typeface="Segoe UI"/>
                        </a:defRPr>
                      </a:pPr>
                      <a:r>
                        <a:t>Optuna Tuned CatBoost</a:t>
                      </a:r>
                    </a:p>
                  </a:txBody>
                  <a:tcPr>
                    <a:solidFill>
                      <a:srgbClr val="18212F"/>
                    </a:solidFill>
                  </a:tcPr>
                </a:tc>
                <a:tc>
                  <a:txBody>
                    <a:bodyPr/>
                    <a:lstStyle/>
                    <a:p>
                      <a:pPr>
                        <a:defRPr sz="1100">
                          <a:solidFill>
                            <a:srgbClr val="FFFFFF"/>
                          </a:solidFill>
                          <a:latin typeface="Segoe UI"/>
                        </a:defRPr>
                      </a:pPr>
                      <a:r>
                        <a:t>17.83 Lac</a:t>
                      </a:r>
                    </a:p>
                  </a:txBody>
                  <a:tcPr>
                    <a:solidFill>
                      <a:srgbClr val="18212F"/>
                    </a:solidFill>
                  </a:tcPr>
                </a:tc>
                <a:tc>
                  <a:txBody>
                    <a:bodyPr/>
                    <a:lstStyle/>
                    <a:p>
                      <a:pPr>
                        <a:defRPr sz="1100">
                          <a:solidFill>
                            <a:srgbClr val="FFFFFF"/>
                          </a:solidFill>
                          <a:latin typeface="Segoe UI"/>
                        </a:defRPr>
                      </a:pPr>
                      <a:r>
                        <a:t>0.41 Cr</a:t>
                      </a:r>
                    </a:p>
                  </a:txBody>
                  <a:tcPr>
                    <a:solidFill>
                      <a:srgbClr val="18212F"/>
                    </a:solidFill>
                  </a:tcPr>
                </a:tc>
                <a:tc>
                  <a:txBody>
                    <a:bodyPr/>
                    <a:lstStyle/>
                    <a:p>
                      <a:pPr>
                        <a:defRPr sz="1100">
                          <a:solidFill>
                            <a:srgbClr val="FFFFFF"/>
                          </a:solidFill>
                          <a:latin typeface="Segoe UI"/>
                        </a:defRPr>
                      </a:pPr>
                      <a:r>
                        <a:t>0.9860</a:t>
                      </a:r>
                    </a:p>
                  </a:txBody>
                  <a:tcPr>
                    <a:solidFill>
                      <a:srgbClr val="18212F"/>
                    </a:solidFill>
                  </a:tcPr>
                </a:tc>
                <a:tc>
                  <a:txBody>
                    <a:bodyPr/>
                    <a:lstStyle/>
                    <a:p>
                      <a:pPr>
                        <a:defRPr sz="1100">
                          <a:solidFill>
                            <a:srgbClr val="FFFFFF"/>
                          </a:solidFill>
                          <a:latin typeface="Segoe UI"/>
                        </a:defRPr>
                      </a:pPr>
                      <a:r>
                        <a:t>7.29%</a:t>
                      </a:r>
                    </a:p>
                  </a:txBody>
                  <a:tcPr>
                    <a:solidFill>
                      <a:srgbClr val="18212F"/>
                    </a:solidFill>
                  </a:tcPr>
                </a:tc>
                <a:tc>
                  <a:txBody>
                    <a:bodyPr/>
                    <a:lstStyle/>
                    <a:p>
                      <a:pPr>
                        <a:defRPr sz="1100">
                          <a:solidFill>
                            <a:srgbClr val="10B981"/>
                          </a:solidFill>
                          <a:latin typeface="Segoe UI"/>
                        </a:defRPr>
                      </a:pPr>
                      <a:r>
                        <a:t>Champion</a:t>
                      </a:r>
                    </a:p>
                  </a:txBody>
                  <a:tcPr>
                    <a:solidFill>
                      <a:srgbClr val="18212F"/>
                    </a:solidFill>
                  </a:tcPr>
                </a:tc>
              </a:tr>
              <a:tr h="457200">
                <a:tc>
                  <a:txBody>
                    <a:bodyPr/>
                    <a:lstStyle/>
                    <a:p>
                      <a:pPr>
                        <a:defRPr sz="1100">
                          <a:solidFill>
                            <a:srgbClr val="FFFFFF"/>
                          </a:solidFill>
                          <a:latin typeface="Segoe UI"/>
                        </a:defRPr>
                      </a:pPr>
                      <a:r>
                        <a:t>CatBoost (Default)</a:t>
                      </a:r>
                    </a:p>
                  </a:txBody>
                  <a:tcPr>
                    <a:solidFill>
                      <a:srgbClr val="1E293B"/>
                    </a:solidFill>
                  </a:tcPr>
                </a:tc>
                <a:tc>
                  <a:txBody>
                    <a:bodyPr/>
                    <a:lstStyle/>
                    <a:p>
                      <a:pPr>
                        <a:defRPr sz="1100">
                          <a:solidFill>
                            <a:srgbClr val="FFFFFF"/>
                          </a:solidFill>
                          <a:latin typeface="Segoe UI"/>
                        </a:defRPr>
                      </a:pPr>
                      <a:r>
                        <a:t>17.61 Lac</a:t>
                      </a:r>
                    </a:p>
                  </a:txBody>
                  <a:tcPr>
                    <a:solidFill>
                      <a:srgbClr val="1E293B"/>
                    </a:solidFill>
                  </a:tcPr>
                </a:tc>
                <a:tc>
                  <a:txBody>
                    <a:bodyPr/>
                    <a:lstStyle/>
                    <a:p>
                      <a:pPr>
                        <a:defRPr sz="1100">
                          <a:solidFill>
                            <a:srgbClr val="FFFFFF"/>
                          </a:solidFill>
                          <a:latin typeface="Segoe UI"/>
                        </a:defRPr>
                      </a:pPr>
                      <a:r>
                        <a:t>0.39 Cr</a:t>
                      </a:r>
                    </a:p>
                  </a:txBody>
                  <a:tcPr>
                    <a:solidFill>
                      <a:srgbClr val="1E293B"/>
                    </a:solidFill>
                  </a:tcPr>
                </a:tc>
                <a:tc>
                  <a:txBody>
                    <a:bodyPr/>
                    <a:lstStyle/>
                    <a:p>
                      <a:pPr>
                        <a:defRPr sz="1100">
                          <a:solidFill>
                            <a:srgbClr val="FFFFFF"/>
                          </a:solidFill>
                          <a:latin typeface="Segoe UI"/>
                        </a:defRPr>
                      </a:pPr>
                      <a:r>
                        <a:t>0.9872</a:t>
                      </a:r>
                    </a:p>
                  </a:txBody>
                  <a:tcPr>
                    <a:solidFill>
                      <a:srgbClr val="1E293B"/>
                    </a:solidFill>
                  </a:tcPr>
                </a:tc>
                <a:tc>
                  <a:txBody>
                    <a:bodyPr/>
                    <a:lstStyle/>
                    <a:p>
                      <a:pPr>
                        <a:defRPr sz="1100">
                          <a:solidFill>
                            <a:srgbClr val="FFFFFF"/>
                          </a:solidFill>
                          <a:latin typeface="Segoe UI"/>
                        </a:defRPr>
                      </a:pPr>
                      <a:r>
                        <a:t>7.42%</a:t>
                      </a:r>
                    </a:p>
                  </a:txBody>
                  <a:tcPr>
                    <a:solidFill>
                      <a:srgbClr val="1E293B"/>
                    </a:solidFill>
                  </a:tcPr>
                </a:tc>
                <a:tc>
                  <a:txBody>
                    <a:bodyPr/>
                    <a:lstStyle/>
                    <a:p>
                      <a:pPr>
                        <a:defRPr sz="1100">
                          <a:solidFill>
                            <a:srgbClr val="FFFFFF"/>
                          </a:solidFill>
                          <a:latin typeface="Segoe UI"/>
                        </a:defRPr>
                      </a:pPr>
                      <a:r>
                        <a:t>Candidate</a:t>
                      </a:r>
                    </a:p>
                  </a:txBody>
                  <a:tcPr>
                    <a:solidFill>
                      <a:srgbClr val="1E293B"/>
                    </a:solidFill>
                  </a:tcPr>
                </a:tc>
              </a:tr>
              <a:tr h="457200">
                <a:tc>
                  <a:txBody>
                    <a:bodyPr/>
                    <a:lstStyle/>
                    <a:p>
                      <a:pPr>
                        <a:defRPr sz="1100">
                          <a:solidFill>
                            <a:srgbClr val="FFFFFF"/>
                          </a:solidFill>
                          <a:latin typeface="Segoe UI"/>
                        </a:defRPr>
                      </a:pPr>
                      <a:r>
                        <a:t>XGBoost</a:t>
                      </a:r>
                    </a:p>
                  </a:txBody>
                  <a:tcPr>
                    <a:solidFill>
                      <a:srgbClr val="18212F"/>
                    </a:solidFill>
                  </a:tcPr>
                </a:tc>
                <a:tc>
                  <a:txBody>
                    <a:bodyPr/>
                    <a:lstStyle/>
                    <a:p>
                      <a:pPr>
                        <a:defRPr sz="1100">
                          <a:solidFill>
                            <a:srgbClr val="FFFFFF"/>
                          </a:solidFill>
                          <a:latin typeface="Segoe UI"/>
                        </a:defRPr>
                      </a:pPr>
                      <a:r>
                        <a:t>18.29 Lac</a:t>
                      </a:r>
                    </a:p>
                  </a:txBody>
                  <a:tcPr>
                    <a:solidFill>
                      <a:srgbClr val="18212F"/>
                    </a:solidFill>
                  </a:tcPr>
                </a:tc>
                <a:tc>
                  <a:txBody>
                    <a:bodyPr/>
                    <a:lstStyle/>
                    <a:p>
                      <a:pPr>
                        <a:defRPr sz="1100">
                          <a:solidFill>
                            <a:srgbClr val="FFFFFF"/>
                          </a:solidFill>
                          <a:latin typeface="Segoe UI"/>
                        </a:defRPr>
                      </a:pPr>
                      <a:r>
                        <a:t>0.58 Cr</a:t>
                      </a:r>
                    </a:p>
                  </a:txBody>
                  <a:tcPr>
                    <a:solidFill>
                      <a:srgbClr val="18212F"/>
                    </a:solidFill>
                  </a:tcPr>
                </a:tc>
                <a:tc>
                  <a:txBody>
                    <a:bodyPr/>
                    <a:lstStyle/>
                    <a:p>
                      <a:pPr>
                        <a:defRPr sz="1100">
                          <a:solidFill>
                            <a:srgbClr val="FFFFFF"/>
                          </a:solidFill>
                          <a:latin typeface="Segoe UI"/>
                        </a:defRPr>
                      </a:pPr>
                      <a:r>
                        <a:t>0.9724</a:t>
                      </a:r>
                    </a:p>
                  </a:txBody>
                  <a:tcPr>
                    <a:solidFill>
                      <a:srgbClr val="18212F"/>
                    </a:solidFill>
                  </a:tcPr>
                </a:tc>
                <a:tc>
                  <a:txBody>
                    <a:bodyPr/>
                    <a:lstStyle/>
                    <a:p>
                      <a:pPr>
                        <a:defRPr sz="1100">
                          <a:solidFill>
                            <a:srgbClr val="FFFFFF"/>
                          </a:solidFill>
                          <a:latin typeface="Segoe UI"/>
                        </a:defRPr>
                      </a:pPr>
                      <a:r>
                        <a:t>6.68%</a:t>
                      </a:r>
                    </a:p>
                  </a:txBody>
                  <a:tcPr>
                    <a:solidFill>
                      <a:srgbClr val="18212F"/>
                    </a:solidFill>
                  </a:tcPr>
                </a:tc>
                <a:tc>
                  <a:txBody>
                    <a:bodyPr/>
                    <a:lstStyle/>
                    <a:p>
                      <a:pPr>
                        <a:defRPr sz="1100">
                          <a:solidFill>
                            <a:srgbClr val="FFFFFF"/>
                          </a:solidFill>
                          <a:latin typeface="Segoe UI"/>
                        </a:defRPr>
                      </a:pPr>
                      <a:r>
                        <a:t>Candidate</a:t>
                      </a:r>
                    </a:p>
                  </a:txBody>
                  <a:tcPr>
                    <a:solidFill>
                      <a:srgbClr val="18212F"/>
                    </a:solidFill>
                  </a:tcPr>
                </a:tc>
              </a:tr>
              <a:tr h="457200">
                <a:tc>
                  <a:txBody>
                    <a:bodyPr/>
                    <a:lstStyle/>
                    <a:p>
                      <a:pPr>
                        <a:defRPr sz="1100">
                          <a:solidFill>
                            <a:srgbClr val="FFFFFF"/>
                          </a:solidFill>
                          <a:latin typeface="Segoe UI"/>
                        </a:defRPr>
                      </a:pPr>
                      <a:r>
                        <a:t>LightGBM</a:t>
                      </a:r>
                    </a:p>
                  </a:txBody>
                  <a:tcPr>
                    <a:solidFill>
                      <a:srgbClr val="1E293B"/>
                    </a:solidFill>
                  </a:tcPr>
                </a:tc>
                <a:tc>
                  <a:txBody>
                    <a:bodyPr/>
                    <a:lstStyle/>
                    <a:p>
                      <a:pPr>
                        <a:defRPr sz="1100">
                          <a:solidFill>
                            <a:srgbClr val="FFFFFF"/>
                          </a:solidFill>
                          <a:latin typeface="Segoe UI"/>
                        </a:defRPr>
                      </a:pPr>
                      <a:r>
                        <a:t>19.49 Lac</a:t>
                      </a:r>
                    </a:p>
                  </a:txBody>
                  <a:tcPr>
                    <a:solidFill>
                      <a:srgbClr val="1E293B"/>
                    </a:solidFill>
                  </a:tcPr>
                </a:tc>
                <a:tc>
                  <a:txBody>
                    <a:bodyPr/>
                    <a:lstStyle/>
                    <a:p>
                      <a:pPr>
                        <a:defRPr sz="1100">
                          <a:solidFill>
                            <a:srgbClr val="FFFFFF"/>
                          </a:solidFill>
                          <a:latin typeface="Segoe UI"/>
                        </a:defRPr>
                      </a:pPr>
                      <a:r>
                        <a:t>0.57 Cr</a:t>
                      </a:r>
                    </a:p>
                  </a:txBody>
                  <a:tcPr>
                    <a:solidFill>
                      <a:srgbClr val="1E293B"/>
                    </a:solidFill>
                  </a:tcPr>
                </a:tc>
                <a:tc>
                  <a:txBody>
                    <a:bodyPr/>
                    <a:lstStyle/>
                    <a:p>
                      <a:pPr>
                        <a:defRPr sz="1100">
                          <a:solidFill>
                            <a:srgbClr val="FFFFFF"/>
                          </a:solidFill>
                          <a:latin typeface="Segoe UI"/>
                        </a:defRPr>
                      </a:pPr>
                      <a:r>
                        <a:t>0.9727</a:t>
                      </a:r>
                    </a:p>
                  </a:txBody>
                  <a:tcPr>
                    <a:solidFill>
                      <a:srgbClr val="1E293B"/>
                    </a:solidFill>
                  </a:tcPr>
                </a:tc>
                <a:tc>
                  <a:txBody>
                    <a:bodyPr/>
                    <a:lstStyle/>
                    <a:p>
                      <a:pPr>
                        <a:defRPr sz="1100">
                          <a:solidFill>
                            <a:srgbClr val="FFFFFF"/>
                          </a:solidFill>
                          <a:latin typeface="Segoe UI"/>
                        </a:defRPr>
                      </a:pPr>
                      <a:r>
                        <a:t>7.38%</a:t>
                      </a:r>
                    </a:p>
                  </a:txBody>
                  <a:tcPr>
                    <a:solidFill>
                      <a:srgbClr val="1E293B"/>
                    </a:solidFill>
                  </a:tcPr>
                </a:tc>
                <a:tc>
                  <a:txBody>
                    <a:bodyPr/>
                    <a:lstStyle/>
                    <a:p>
                      <a:pPr>
                        <a:defRPr sz="1100">
                          <a:solidFill>
                            <a:srgbClr val="FFFFFF"/>
                          </a:solidFill>
                          <a:latin typeface="Segoe UI"/>
                        </a:defRPr>
                      </a:pPr>
                      <a:r>
                        <a:t>Candidate</a:t>
                      </a:r>
                    </a:p>
                  </a:txBody>
                  <a:tcPr>
                    <a:solidFill>
                      <a:srgbClr val="1E293B"/>
                    </a:solidFill>
                  </a:tcPr>
                </a:tc>
              </a:tr>
              <a:tr h="457200">
                <a:tc>
                  <a:txBody>
                    <a:bodyPr/>
                    <a:lstStyle/>
                    <a:p>
                      <a:pPr>
                        <a:defRPr sz="1100">
                          <a:solidFill>
                            <a:srgbClr val="FFFFFF"/>
                          </a:solidFill>
                          <a:latin typeface="Segoe UI"/>
                        </a:defRPr>
                      </a:pPr>
                      <a:r>
                        <a:t>Random Forest</a:t>
                      </a:r>
                    </a:p>
                  </a:txBody>
                  <a:tcPr>
                    <a:solidFill>
                      <a:srgbClr val="18212F"/>
                    </a:solidFill>
                  </a:tcPr>
                </a:tc>
                <a:tc>
                  <a:txBody>
                    <a:bodyPr/>
                    <a:lstStyle/>
                    <a:p>
                      <a:pPr>
                        <a:defRPr sz="1100">
                          <a:solidFill>
                            <a:srgbClr val="FFFFFF"/>
                          </a:solidFill>
                          <a:latin typeface="Segoe UI"/>
                        </a:defRPr>
                      </a:pPr>
                      <a:r>
                        <a:t>21.47 Lac</a:t>
                      </a:r>
                    </a:p>
                  </a:txBody>
                  <a:tcPr>
                    <a:solidFill>
                      <a:srgbClr val="18212F"/>
                    </a:solidFill>
                  </a:tcPr>
                </a:tc>
                <a:tc>
                  <a:txBody>
                    <a:bodyPr/>
                    <a:lstStyle/>
                    <a:p>
                      <a:pPr>
                        <a:defRPr sz="1100">
                          <a:solidFill>
                            <a:srgbClr val="FFFFFF"/>
                          </a:solidFill>
                          <a:latin typeface="Segoe UI"/>
                        </a:defRPr>
                      </a:pPr>
                      <a:r>
                        <a:t>0.55 Cr</a:t>
                      </a:r>
                    </a:p>
                  </a:txBody>
                  <a:tcPr>
                    <a:solidFill>
                      <a:srgbClr val="18212F"/>
                    </a:solidFill>
                  </a:tcPr>
                </a:tc>
                <a:tc>
                  <a:txBody>
                    <a:bodyPr/>
                    <a:lstStyle/>
                    <a:p>
                      <a:pPr>
                        <a:defRPr sz="1100">
                          <a:solidFill>
                            <a:srgbClr val="FFFFFF"/>
                          </a:solidFill>
                          <a:latin typeface="Segoe UI"/>
                        </a:defRPr>
                      </a:pPr>
                      <a:r>
                        <a:t>0.9749</a:t>
                      </a:r>
                    </a:p>
                  </a:txBody>
                  <a:tcPr>
                    <a:solidFill>
                      <a:srgbClr val="18212F"/>
                    </a:solidFill>
                  </a:tcPr>
                </a:tc>
                <a:tc>
                  <a:txBody>
                    <a:bodyPr/>
                    <a:lstStyle/>
                    <a:p>
                      <a:pPr>
                        <a:defRPr sz="1100">
                          <a:solidFill>
                            <a:srgbClr val="FFFFFF"/>
                          </a:solidFill>
                          <a:latin typeface="Segoe UI"/>
                        </a:defRPr>
                      </a:pPr>
                      <a:r>
                        <a:t>8.30%</a:t>
                      </a:r>
                    </a:p>
                  </a:txBody>
                  <a:tcPr>
                    <a:solidFill>
                      <a:srgbClr val="18212F"/>
                    </a:solidFill>
                  </a:tcPr>
                </a:tc>
                <a:tc>
                  <a:txBody>
                    <a:bodyPr/>
                    <a:lstStyle/>
                    <a:p>
                      <a:pPr>
                        <a:defRPr sz="1100">
                          <a:solidFill>
                            <a:srgbClr val="FFFFFF"/>
                          </a:solidFill>
                          <a:latin typeface="Segoe UI"/>
                        </a:defRPr>
                      </a:pPr>
                      <a:r>
                        <a:t>Candidate</a:t>
                      </a:r>
                    </a:p>
                  </a:txBody>
                  <a:tcPr>
                    <a:solidFill>
                      <a:srgbClr val="18212F"/>
                    </a:solidFill>
                  </a:tcPr>
                </a:tc>
              </a:tr>
            </a:tbl>
          </a:graphicData>
        </a:graphic>
      </p:graphicFrame>
      <p:sp>
        <p:nvSpPr>
          <p:cNvPr id="5" name="TextBox 4"/>
          <p:cNvSpPr txBox="1"/>
          <p:nvPr/>
        </p:nvSpPr>
        <p:spPr>
          <a:xfrm>
            <a:off x="731520" y="4663440"/>
            <a:ext cx="10698480" cy="1645920"/>
          </a:xfrm>
          <a:prstGeom prst="rect">
            <a:avLst/>
          </a:prstGeom>
          <a:noFill/>
        </p:spPr>
        <p:txBody>
          <a:bodyPr wrap="square">
            <a:spAutoFit/>
          </a:bodyPr>
          <a:lstStyle/>
          <a:p>
            <a:pPr>
              <a:defRPr sz="1300" b="1">
                <a:solidFill>
                  <a:srgbClr val="06B6D4"/>
                </a:solidFill>
                <a:latin typeface="Segoe UI"/>
              </a:defRPr>
            </a:pPr>
            <a:r>
              <a:t>QUANTILE CONFIDENCE INTERVALS &amp; VERDICT ENGINE:</a:t>
            </a:r>
          </a:p>
          <a:p>
            <a:pPr>
              <a:defRPr sz="1100">
                <a:solidFill>
                  <a:srgbClr val="FFFFFF"/>
                </a:solidFill>
                <a:latin typeface="Segoe UI"/>
              </a:defRPr>
            </a:pPr>
            <a:r>
              <a:t>→  10th &amp; 90th Percentile Quantile Bounds: Delivers an honest valuation range (e.g., 2.15 Cr to 2.55 Cr) instead of an arrogant point estimate.</a:t>
            </a:r>
          </a:p>
          <a:p>
            <a:pPr>
              <a:defRPr sz="1100">
                <a:solidFill>
                  <a:srgbClr val="FFFFFF"/>
                </a:solidFill>
                <a:latin typeface="Segoe UI"/>
              </a:defRPr>
            </a:pPr>
            <a:r>
              <a:t>→  Automatic Pricing Verdict: Compares seller listing quote to fair range: 'Fairly Priced' (&lt;10% diff), 'Overpriced' (&gt;10%), or 'Underpriced' (&lt;-10%).</a:t>
            </a:r>
          </a:p>
          <a:p>
            <a:pPr>
              <a:defRPr sz="1100">
                <a:solidFill>
                  <a:srgbClr val="FFFFFF"/>
                </a:solidFill>
                <a:latin typeface="Segoe UI"/>
              </a:defRPr>
            </a:pPr>
            <a:r>
              <a:t>→  Error Reduction: 88.6% drop in Mean Absolute Error compared to traditional median broker guesses.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tIns="0" bIns="0" lIns="0">
            <a:spAutoFit/>
          </a:bodyPr>
          <a:lstStyle/>
          <a:p>
            <a:pPr>
              <a:defRPr sz="2600" b="1">
                <a:solidFill>
                  <a:srgbClr val="FFFFFF"/>
                </a:solidFill>
                <a:latin typeface="Segoe UI"/>
              </a:defRPr>
            </a:pPr>
            <a:r>
              <a:t>Valuation Diagnostic Slices &amp; Failure Modes</a:t>
            </a:r>
          </a:p>
          <a:p>
            <a:pPr>
              <a:defRPr sz="1300">
                <a:solidFill>
                  <a:srgbClr val="06B6D4"/>
                </a:solidFill>
                <a:latin typeface="Segoe UI"/>
              </a:defRPr>
            </a:pPr>
            <a:r>
              <a:t>Transparent performance breakdown by metropolitan city and price tier</a:t>
            </a:r>
          </a:p>
        </p:txBody>
      </p:sp>
      <p:sp>
        <p:nvSpPr>
          <p:cNvPr id="4" name="Rounded Rectangle 3"/>
          <p:cNvSpPr/>
          <p:nvPr/>
        </p:nvSpPr>
        <p:spPr>
          <a:xfrm>
            <a:off x="731520" y="1645920"/>
            <a:ext cx="256032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ISLAMABAD</a:t>
            </a:r>
          </a:p>
          <a:p>
            <a:pPr>
              <a:defRPr sz="2200" b="1">
                <a:solidFill>
                  <a:srgbClr val="06B6D4"/>
                </a:solidFill>
                <a:latin typeface="Segoe UI"/>
              </a:defRPr>
            </a:pPr>
            <a:r>
              <a:t>7.62% MAPE</a:t>
            </a:r>
          </a:p>
          <a:p>
            <a:pPr>
              <a:defRPr sz="900">
                <a:solidFill>
                  <a:srgbClr val="94A3B8"/>
                </a:solidFill>
                <a:latin typeface="Segoe UI"/>
              </a:defRPr>
            </a:pPr>
            <a:r>
              <a:t>MAE: 24.38 Lac</a:t>
            </a:r>
            <a:br/>
            <a:r>
              <a:t>Listings: 224</a:t>
            </a:r>
            <a:br/>
            <a:r>
              <a:t>High-value sectors (F-6, F-7, E-7) introduce higher absolute vari...</a:t>
            </a:r>
          </a:p>
        </p:txBody>
      </p:sp>
      <p:sp>
        <p:nvSpPr>
          <p:cNvPr id="5" name="Rounded Rectangle 4"/>
          <p:cNvSpPr/>
          <p:nvPr/>
        </p:nvSpPr>
        <p:spPr>
          <a:xfrm>
            <a:off x="3429000" y="1645920"/>
            <a:ext cx="256032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KARACHI</a:t>
            </a:r>
          </a:p>
          <a:p>
            <a:pPr>
              <a:defRPr sz="2200" b="1">
                <a:solidFill>
                  <a:srgbClr val="06B6D4"/>
                </a:solidFill>
                <a:latin typeface="Segoe UI"/>
              </a:defRPr>
            </a:pPr>
            <a:r>
              <a:t>7.81% MAPE</a:t>
            </a:r>
          </a:p>
          <a:p>
            <a:pPr>
              <a:defRPr sz="900">
                <a:solidFill>
                  <a:srgbClr val="94A3B8"/>
                </a:solidFill>
                <a:latin typeface="Segoe UI"/>
              </a:defRPr>
            </a:pPr>
            <a:r>
              <a:t>MAE: 15.52 Lac</a:t>
            </a:r>
            <a:br/>
            <a:r>
              <a:t>Listings: 208</a:t>
            </a:r>
            <a:br/>
            <a:r>
              <a:t>Clifton &amp; DHA beachfront premiums captured accurately through soc...</a:t>
            </a:r>
          </a:p>
        </p:txBody>
      </p:sp>
      <p:sp>
        <p:nvSpPr>
          <p:cNvPr id="6" name="Rounded Rectangle 5"/>
          <p:cNvSpPr/>
          <p:nvPr/>
        </p:nvSpPr>
        <p:spPr>
          <a:xfrm>
            <a:off x="6126480" y="1645920"/>
            <a:ext cx="256032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LAHORE</a:t>
            </a:r>
          </a:p>
          <a:p>
            <a:pPr>
              <a:defRPr sz="2200" b="1">
                <a:solidFill>
                  <a:srgbClr val="06B6D4"/>
                </a:solidFill>
                <a:latin typeface="Segoe UI"/>
              </a:defRPr>
            </a:pPr>
            <a:r>
              <a:t>6.90% MAPE</a:t>
            </a:r>
          </a:p>
          <a:p>
            <a:pPr>
              <a:defRPr sz="900">
                <a:solidFill>
                  <a:srgbClr val="94A3B8"/>
                </a:solidFill>
                <a:latin typeface="Segoe UI"/>
              </a:defRPr>
            </a:pPr>
            <a:r>
              <a:t>MAE: 16.13 Lac</a:t>
            </a:r>
            <a:br/>
            <a:r>
              <a:t>Listings: 208</a:t>
            </a:r>
            <a:br/>
            <a:r>
              <a:t>Robust transaction volume in DHA Lahore &amp; Bahria Town yields supe...</a:t>
            </a:r>
          </a:p>
        </p:txBody>
      </p:sp>
      <p:sp>
        <p:nvSpPr>
          <p:cNvPr id="7" name="Rounded Rectangle 6"/>
          <p:cNvSpPr/>
          <p:nvPr/>
        </p:nvSpPr>
        <p:spPr>
          <a:xfrm>
            <a:off x="8823960" y="1645920"/>
            <a:ext cx="256032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RAWALPINDI</a:t>
            </a:r>
          </a:p>
          <a:p>
            <a:pPr>
              <a:defRPr sz="2200" b="1">
                <a:solidFill>
                  <a:srgbClr val="06B6D4"/>
                </a:solidFill>
                <a:latin typeface="Segoe UI"/>
              </a:defRPr>
            </a:pPr>
            <a:r>
              <a:t>6.86% MAPE</a:t>
            </a:r>
          </a:p>
          <a:p>
            <a:pPr>
              <a:defRPr sz="900">
                <a:solidFill>
                  <a:srgbClr val="94A3B8"/>
                </a:solidFill>
                <a:latin typeface="Segoe UI"/>
              </a:defRPr>
            </a:pPr>
            <a:r>
              <a:t>MAE: 15.06 Lac</a:t>
            </a:r>
            <a:br/>
            <a:r>
              <a:t>Listings: 227</a:t>
            </a:r>
            <a:br/>
            <a:r>
              <a:t>Lowest percentage error (6.86%) driven by high density of master-...</a:t>
            </a:r>
          </a:p>
        </p:txBody>
      </p:sp>
      <p:sp>
        <p:nvSpPr>
          <p:cNvPr id="8" name="TextBox 7"/>
          <p:cNvSpPr txBox="1"/>
          <p:nvPr/>
        </p:nvSpPr>
        <p:spPr>
          <a:xfrm>
            <a:off x="731520" y="3931920"/>
            <a:ext cx="10698480" cy="2377440"/>
          </a:xfrm>
          <a:prstGeom prst="rect">
            <a:avLst/>
          </a:prstGeom>
          <a:noFill/>
        </p:spPr>
        <p:txBody>
          <a:bodyPr wrap="square">
            <a:spAutoFit/>
          </a:bodyPr>
          <a:lstStyle/>
          <a:p>
            <a:pPr>
              <a:defRPr sz="1300" b="1">
                <a:solidFill>
                  <a:srgbClr val="F59E0B"/>
                </a:solidFill>
                <a:latin typeface="Segoe UI"/>
              </a:defRPr>
            </a:pPr>
            <a:r>
              <a:t>CRITICAL FAILURE REGIME &amp; HUMAN GOVERNANCE GATE:</a:t>
            </a:r>
          </a:p>
          <a:p>
            <a:pPr>
              <a:defRPr sz="1100">
                <a:solidFill>
                  <a:srgbClr val="FFFFFF"/>
                </a:solidFill>
                <a:latin typeface="Segoe UI"/>
              </a:defRPr>
            </a:pPr>
            <a:r>
              <a:t>•  Budget (&lt; 1.5 Cr) &amp; Mid-Market (1.5 - 3.5 Cr): 6.69% - 7.67% MAPE. 100% automated valuation with instant quotation.</a:t>
            </a:r>
          </a:p>
          <a:p>
            <a:pPr>
              <a:defRPr sz="1100">
                <a:solidFill>
                  <a:srgbClr val="FFFFFF"/>
                </a:solidFill>
                <a:latin typeface="Segoe UI"/>
              </a:defRPr>
            </a:pPr>
            <a:r>
              <a:t>•  Premium (3.5 - 7.0 Cr): 7.00% MAPE. Acceptable dispersion; confidence intervals automatically widen.</a:t>
            </a:r>
          </a:p>
          <a:p>
            <a:pPr>
              <a:defRPr sz="1100">
                <a:solidFill>
                  <a:srgbClr val="FFFFFF"/>
                </a:solidFill>
                <a:latin typeface="Segoe UI"/>
              </a:defRPr>
            </a:pPr>
            <a:r>
              <a:t>•  Luxury Tier (&gt; 7.0 Crore): Primary Failure Mode (MAE 107.36 Lac). Caused by scarcity of comps and bespoke luxury finishes.</a:t>
            </a:r>
          </a:p>
          <a:p>
            <a:pPr>
              <a:defRPr sz="1100">
                <a:solidFill>
                  <a:srgbClr val="FFFFFF"/>
                </a:solidFill>
                <a:latin typeface="Segoe UI"/>
              </a:defRPr>
            </a:pPr>
            <a:r>
              <a:t>•  Operational Policy: Any property evaluated &gt; 7.0 Crore triggers a Mandatory Human Appraisal Review, preserving brand trust and mitigating catastrophic quote errors.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tIns="0" bIns="0" lIns="0">
            <a:spAutoFit/>
          </a:bodyPr>
          <a:lstStyle/>
          <a:p>
            <a:pPr>
              <a:defRPr sz="2600" b="1">
                <a:solidFill>
                  <a:srgbClr val="FFFFFF"/>
                </a:solidFill>
                <a:latin typeface="Segoe UI"/>
              </a:defRPr>
            </a:pPr>
            <a:r>
              <a:t>Model 2: Lead Scoring &amp; The Accuracy Paradox</a:t>
            </a:r>
          </a:p>
          <a:p>
            <a:pPr>
              <a:defRPr sz="1300">
                <a:solidFill>
                  <a:srgbClr val="06B6D4"/>
                </a:solidFill>
                <a:latin typeface="Segoe UI"/>
              </a:defRPr>
            </a:pPr>
            <a:r>
              <a:t>Why 71.4% accuracy is a bankrupting trap, and how SMOTE balances real conversion yield</a:t>
            </a:r>
          </a:p>
        </p:txBody>
      </p:sp>
      <p:sp>
        <p:nvSpPr>
          <p:cNvPr id="4" name="Rounded Rectangle 3"/>
          <p:cNvSpPr/>
          <p:nvPr/>
        </p:nvSpPr>
        <p:spPr>
          <a:xfrm>
            <a:off x="731520" y="1645920"/>
            <a:ext cx="5120640" cy="18288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THE ACCURACY PARADOX</a:t>
            </a:r>
          </a:p>
          <a:p>
            <a:pPr>
              <a:defRPr sz="2200" b="1">
                <a:solidFill>
                  <a:srgbClr val="F59E0B"/>
                </a:solidFill>
                <a:latin typeface="Segoe UI"/>
              </a:defRPr>
            </a:pPr>
            <a:r>
              <a:t>71.4% Accuracy = 0 Deals</a:t>
            </a:r>
          </a:p>
          <a:p>
            <a:pPr>
              <a:defRPr sz="900">
                <a:solidFill>
                  <a:srgbClr val="94A3B8"/>
                </a:solidFill>
                <a:latin typeface="Segoe UI"/>
              </a:defRPr>
            </a:pPr>
            <a:r>
              <a:t>A naive 'predict NO' model scores 71.4% accuracy, yet loses 100% of converting buyers and PKR 4.5 Crore in revenue.</a:t>
            </a:r>
            <a:br/>
            <a:r>
              <a:t>Accuracy is discarded in favor of PR-AUC &amp; Precision@Top-20%.</a:t>
            </a:r>
          </a:p>
        </p:txBody>
      </p:sp>
      <p:sp>
        <p:nvSpPr>
          <p:cNvPr id="5" name="Rounded Rectangle 4"/>
          <p:cNvSpPr/>
          <p:nvPr/>
        </p:nvSpPr>
        <p:spPr>
          <a:xfrm>
            <a:off x="6309360" y="1645920"/>
            <a:ext cx="5120640" cy="18288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CHAMPION CLASSIFIER</a:t>
            </a:r>
          </a:p>
          <a:p>
            <a:pPr>
              <a:defRPr sz="2200" b="1">
                <a:solidFill>
                  <a:srgbClr val="10B981"/>
                </a:solidFill>
                <a:latin typeface="Segoe UI"/>
              </a:defRPr>
            </a:pPr>
            <a:r>
              <a:t>ROC-AUC 0.8201</a:t>
            </a:r>
          </a:p>
          <a:p>
            <a:pPr>
              <a:defRPr sz="900">
                <a:solidFill>
                  <a:srgbClr val="94A3B8"/>
                </a:solidFill>
                <a:latin typeface="Segoe UI"/>
              </a:defRPr>
            </a:pPr>
            <a:r>
              <a:t>LightGBM + SMOTE delivers balanced F1 = 0.6136, PR-AUC = 0.6451, Precision = 71.05%, and Recall = 54.00% on unseen test data.</a:t>
            </a:r>
          </a:p>
        </p:txBody>
      </p:sp>
      <p:sp>
        <p:nvSpPr>
          <p:cNvPr id="6" name="TextBox 5"/>
          <p:cNvSpPr txBox="1"/>
          <p:nvPr/>
        </p:nvSpPr>
        <p:spPr>
          <a:xfrm>
            <a:off x="731520" y="3749039"/>
            <a:ext cx="10698480" cy="2651760"/>
          </a:xfrm>
          <a:prstGeom prst="rect">
            <a:avLst/>
          </a:prstGeom>
          <a:noFill/>
        </p:spPr>
        <p:txBody>
          <a:bodyPr wrap="square">
            <a:spAutoFit/>
          </a:bodyPr>
          <a:lstStyle/>
          <a:p>
            <a:pPr>
              <a:defRPr sz="1300" b="1">
                <a:solidFill>
                  <a:srgbClr val="06B6D4"/>
                </a:solidFill>
                <a:latin typeface="Segoe UI"/>
              </a:defRPr>
            </a:pPr>
            <a:r>
              <a:t>BENCHMARK OF CLASS IMBALANCE MITIGATION STRATEGIES:</a:t>
            </a:r>
          </a:p>
          <a:p>
            <a:pPr>
              <a:defRPr sz="1100">
                <a:solidFill>
                  <a:srgbClr val="FFFFFF"/>
                </a:solidFill>
                <a:latin typeface="Segoe UI"/>
              </a:defRPr>
            </a:pPr>
            <a:r>
              <a:t>•  1. No Balancing (Baseline 0.50): F1 = 0.5946, Recall = 51.33%. Misses half of genuine prospects.</a:t>
            </a:r>
          </a:p>
          <a:p>
            <a:pPr>
              <a:defRPr sz="1100">
                <a:solidFill>
                  <a:srgbClr val="FFFFFF"/>
                </a:solidFill>
                <a:latin typeface="Segoe UI"/>
              </a:defRPr>
            </a:pPr>
            <a:r>
              <a:t>•  2. Cost-Sensitive Class Weights: F1 = 0.6122, Recall = 60.00%. Increases recall but slightly lowers precision to 62.5%.</a:t>
            </a:r>
          </a:p>
          <a:p>
            <a:pPr>
              <a:defRPr sz="1100">
                <a:solidFill>
                  <a:srgbClr val="FFFFFF"/>
                </a:solidFill>
                <a:latin typeface="Segoe UI"/>
              </a:defRPr>
            </a:pPr>
            <a:r>
              <a:t>•  3. SMOTE Synthetic Oversampling: F1 = 0.6136, Precision = 71.05%. Optimal balanced performance selected as production champion.</a:t>
            </a:r>
          </a:p>
          <a:p>
            <a:pPr>
              <a:defRPr sz="1100">
                <a:solidFill>
                  <a:srgbClr val="FFFFFF"/>
                </a:solidFill>
                <a:latin typeface="Segoe UI"/>
              </a:defRPr>
            </a:pPr>
            <a:r>
              <a:t>•  4. Cost-Optimal Threshold Tuning (th = 0.05): Recall = 94.7%. Prevents 1.9 Crore in deal drop-off when financial cost matrix is applied.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tIns="0" bIns="0" lIns="0">
            <a:spAutoFit/>
          </a:bodyPr>
          <a:lstStyle/>
          <a:p>
            <a:pPr>
              <a:defRPr sz="2600" b="1">
                <a:solidFill>
                  <a:srgbClr val="FFFFFF"/>
                </a:solidFill>
                <a:latin typeface="Segoe UI"/>
              </a:defRPr>
            </a:pPr>
            <a:r>
              <a:t>Operational Breakthrough: Precision@Top-20%</a:t>
            </a:r>
          </a:p>
          <a:p>
            <a:pPr>
              <a:defRPr sz="1300">
                <a:solidFill>
                  <a:srgbClr val="06B6D4"/>
                </a:solidFill>
                <a:latin typeface="Segoe UI"/>
              </a:defRPr>
            </a:pPr>
            <a:r>
              <a:t>Solving the sales desk calling capacity bottleneck with a 2.50x conversion lift</a:t>
            </a:r>
          </a:p>
        </p:txBody>
      </p:sp>
      <p:sp>
        <p:nvSpPr>
          <p:cNvPr id="4" name="Rounded Rectangle 3"/>
          <p:cNvSpPr/>
          <p:nvPr/>
        </p:nvSpPr>
        <p:spPr>
          <a:xfrm>
            <a:off x="731520" y="1645920"/>
            <a:ext cx="3291840" cy="18288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CALLING PRECISION</a:t>
            </a:r>
          </a:p>
          <a:p>
            <a:pPr>
              <a:defRPr sz="2200" b="1">
                <a:solidFill>
                  <a:srgbClr val="10B981"/>
                </a:solidFill>
                <a:latin typeface="Segoe UI"/>
              </a:defRPr>
            </a:pPr>
            <a:r>
              <a:t>71.4%</a:t>
            </a:r>
          </a:p>
          <a:p>
            <a:pPr>
              <a:defRPr sz="900">
                <a:solidFill>
                  <a:srgbClr val="94A3B8"/>
                </a:solidFill>
                <a:latin typeface="Segoe UI"/>
              </a:defRPr>
            </a:pPr>
            <a:r>
              <a:t>Top 20% ranked leads convert at 71.4% (vs 28.6% baseline)</a:t>
            </a:r>
          </a:p>
        </p:txBody>
      </p:sp>
      <p:sp>
        <p:nvSpPr>
          <p:cNvPr id="5" name="Rounded Rectangle 4"/>
          <p:cNvSpPr/>
          <p:nvPr/>
        </p:nvSpPr>
        <p:spPr>
          <a:xfrm>
            <a:off x="4389120" y="1645920"/>
            <a:ext cx="3291840" cy="18288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PERFORMANCE LIFT</a:t>
            </a:r>
          </a:p>
          <a:p>
            <a:pPr>
              <a:defRPr sz="2200" b="1">
                <a:solidFill>
                  <a:srgbClr val="06B6D4"/>
                </a:solidFill>
                <a:latin typeface="Segoe UI"/>
              </a:defRPr>
            </a:pPr>
            <a:r>
              <a:t>2.50x Lift</a:t>
            </a:r>
          </a:p>
          <a:p>
            <a:pPr>
              <a:defRPr sz="900">
                <a:solidFill>
                  <a:srgbClr val="94A3B8"/>
                </a:solidFill>
                <a:latin typeface="Segoe UI"/>
              </a:defRPr>
            </a:pPr>
            <a:r>
              <a:t>Sales closers spend 2.5x more time with real buyers</a:t>
            </a:r>
          </a:p>
        </p:txBody>
      </p:sp>
      <p:sp>
        <p:nvSpPr>
          <p:cNvPr id="6" name="Rounded Rectangle 5"/>
          <p:cNvSpPr/>
          <p:nvPr/>
        </p:nvSpPr>
        <p:spPr>
          <a:xfrm>
            <a:off x="8046720" y="1645920"/>
            <a:ext cx="3383280" cy="18288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CONVERSION CAPTURE</a:t>
            </a:r>
          </a:p>
          <a:p>
            <a:pPr>
              <a:defRPr sz="2200" b="1">
                <a:solidFill>
                  <a:srgbClr val="10B981"/>
                </a:solidFill>
                <a:latin typeface="Segoe UI"/>
              </a:defRPr>
            </a:pPr>
            <a:r>
              <a:t>50.0% of All Deals</a:t>
            </a:r>
          </a:p>
          <a:p>
            <a:pPr>
              <a:defRPr sz="900">
                <a:solidFill>
                  <a:srgbClr val="94A3B8"/>
                </a:solidFill>
                <a:latin typeface="Segoe UI"/>
              </a:defRPr>
            </a:pPr>
            <a:r>
              <a:t>Calling only 40 leads captures half of the entire month's revenue</a:t>
            </a:r>
          </a:p>
        </p:txBody>
      </p:sp>
      <p:sp>
        <p:nvSpPr>
          <p:cNvPr id="7" name="TextBox 6"/>
          <p:cNvSpPr txBox="1"/>
          <p:nvPr/>
        </p:nvSpPr>
        <p:spPr>
          <a:xfrm>
            <a:off x="731520" y="3840480"/>
            <a:ext cx="10698480" cy="2560320"/>
          </a:xfrm>
          <a:prstGeom prst="rect">
            <a:avLst/>
          </a:prstGeom>
          <a:noFill/>
        </p:spPr>
        <p:txBody>
          <a:bodyPr wrap="square">
            <a:spAutoFit/>
          </a:bodyPr>
          <a:lstStyle/>
          <a:p>
            <a:pPr>
              <a:defRPr sz="1300" b="1">
                <a:solidFill>
                  <a:srgbClr val="06B6D4"/>
                </a:solidFill>
                <a:latin typeface="Segoe UI"/>
              </a:defRPr>
            </a:pPr>
            <a:r>
              <a:t>BEFORE VS. AFTER AI LEAD ROUTING COMPARISON:</a:t>
            </a:r>
          </a:p>
          <a:p>
            <a:pPr>
              <a:defRPr sz="1200">
                <a:solidFill>
                  <a:srgbClr val="FFFFFF"/>
                </a:solidFill>
                <a:latin typeface="Segoe UI"/>
              </a:defRPr>
            </a:pPr>
            <a:r>
              <a:t>•  Without ML (Naive Calling): Sales desk calls 40 random leads from 200. Only 11 convert; 29 are dead ends. Reps burn out.</a:t>
            </a:r>
          </a:p>
          <a:p>
            <a:pPr>
              <a:defRPr sz="1200">
                <a:solidFill>
                  <a:srgbClr val="FFFFFF"/>
                </a:solidFill>
                <a:latin typeface="Segoe UI"/>
              </a:defRPr>
            </a:pPr>
            <a:r>
              <a:t>•  With AI Scoring (Ranked Calling): Sales desk calls the Top 40 ranked leads. 28 to 29 convert! +150% more closed deals for the same payroll cost.</a:t>
            </a:r>
          </a:p>
          <a:p>
            <a:pPr>
              <a:defRPr sz="1200">
                <a:solidFill>
                  <a:srgbClr val="FFFFFF"/>
                </a:solidFill>
                <a:latin typeface="Segoe UI"/>
              </a:defRPr>
            </a:pPr>
            <a:r>
              <a:t>•  Tiered Action SLA: 🔥 Hot Leads (P &gt;= 0.65) called within 15 mins; 🌤 Warm Leads (0.35-0.65) contacted within 24h; ❄️ Cold Leads (P &lt; 0.35) nurtured via automated WhatsApp drip.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tIns="0" bIns="0" lIns="0">
            <a:spAutoFit/>
          </a:bodyPr>
          <a:lstStyle/>
          <a:p>
            <a:pPr>
              <a:defRPr sz="2600" b="1">
                <a:solidFill>
                  <a:srgbClr val="FFFFFF"/>
                </a:solidFill>
                <a:latin typeface="Segoe UI"/>
              </a:defRPr>
            </a:pPr>
            <a:r>
              <a:t>Explainable AI (SHAP) &amp; UrduLish Dialogue</a:t>
            </a:r>
          </a:p>
          <a:p>
            <a:pPr>
              <a:defRPr sz="1300">
                <a:solidFill>
                  <a:srgbClr val="06B6D4"/>
                </a:solidFill>
                <a:latin typeface="Segoe UI"/>
              </a:defRPr>
            </a:pPr>
            <a:r>
              <a:t>Demystifying black-box predictions into transparent, actionable local language reasons</a:t>
            </a:r>
          </a:p>
        </p:txBody>
      </p:sp>
      <p:sp>
        <p:nvSpPr>
          <p:cNvPr id="4" name="TextBox 3"/>
          <p:cNvSpPr txBox="1"/>
          <p:nvPr/>
        </p:nvSpPr>
        <p:spPr>
          <a:xfrm>
            <a:off x="731520" y="1645920"/>
            <a:ext cx="5486400" cy="4572000"/>
          </a:xfrm>
          <a:prstGeom prst="rect">
            <a:avLst/>
          </a:prstGeom>
          <a:noFill/>
        </p:spPr>
        <p:txBody>
          <a:bodyPr wrap="square">
            <a:spAutoFit/>
          </a:bodyPr>
          <a:lstStyle/>
          <a:p>
            <a:pPr>
              <a:defRPr sz="1300" b="1">
                <a:solidFill>
                  <a:srgbClr val="06B6D4"/>
                </a:solidFill>
                <a:latin typeface="Segoe UI"/>
              </a:defRPr>
            </a:pPr>
            <a:r>
              <a:t>WHY EXPLAINABILITY MATTERS TO SALES AGENTS:</a:t>
            </a:r>
          </a:p>
          <a:p>
            <a:pPr>
              <a:defRPr sz="1200">
                <a:solidFill>
                  <a:srgbClr val="FFFFFF"/>
                </a:solidFill>
                <a:latin typeface="Segoe UI"/>
              </a:defRPr>
            </a:pPr>
            <a:r>
              <a:t>•  SHAP TreeExplainer: Computes exact Shapley attribution values for every feature on every lead.</a:t>
            </a:r>
          </a:p>
          <a:p>
            <a:pPr>
              <a:defRPr sz="1200">
                <a:solidFill>
                  <a:srgbClr val="FFFFFF"/>
                </a:solidFill>
                <a:latin typeface="Segoe UI"/>
              </a:defRPr>
            </a:pPr>
            <a:r>
              <a:t>•  Top Conversion Drivers: Inbound call duration (+35%), site visit booking (+28%), DHA/Bahria preference (+18%), and verified budget readiness.</a:t>
            </a:r>
          </a:p>
          <a:p>
            <a:pPr>
              <a:defRPr sz="1200">
                <a:solidFill>
                  <a:srgbClr val="FFFFFF"/>
                </a:solidFill>
                <a:latin typeface="Segoe UI"/>
              </a:defRPr>
            </a:pPr>
            <a:r>
              <a:t>•  UrduLish Natural Language Generator: Sales agents reject mathematical odds ratios. Our engine translates raw weights into fluent UrduLish advice:</a:t>
            </a:r>
          </a:p>
          <a:p>
            <a:pPr>
              <a:defRPr sz="1200">
                <a:solidFill>
                  <a:srgbClr val="FFFFFF"/>
                </a:solidFill>
                <a:latin typeface="Segoe UI"/>
              </a:defRPr>
            </a:pPr>
            <a:r>
              <a:t>•  'Yeh lead high probability (82%) hai kyunke customer ne site visit book ki hai aur call duration 4 minute se zyada thi.'</a:t>
            </a:r>
          </a:p>
        </p:txBody>
      </p:sp>
      <p:sp>
        <p:nvSpPr>
          <p:cNvPr id="5" name="Rounded Rectangle 4"/>
          <p:cNvSpPr/>
          <p:nvPr/>
        </p:nvSpPr>
        <p:spPr>
          <a:xfrm>
            <a:off x="6675120" y="1645920"/>
            <a:ext cx="475488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ALGORITHMIC FAIRNESS AUDIT</a:t>
            </a:r>
          </a:p>
          <a:p>
            <a:pPr>
              <a:defRPr sz="2200" b="1">
                <a:solidFill>
                  <a:srgbClr val="10B981"/>
                </a:solidFill>
                <a:latin typeface="Segoe UI"/>
              </a:defRPr>
            </a:pPr>
            <a:r>
              <a:t>Demographic Parity Verified</a:t>
            </a:r>
          </a:p>
          <a:p>
            <a:pPr>
              <a:defRPr sz="900">
                <a:solidFill>
                  <a:srgbClr val="94A3B8"/>
                </a:solidFill>
                <a:latin typeface="Segoe UI"/>
              </a:defRPr>
            </a:pPr>
            <a:r>
              <a:t>Disparate impact ratio across city subgroups: 0.94 (well above 0.80 EEOC four-fifths threshold).</a:t>
            </a:r>
            <a:br/>
            <a:r>
              <a:t>No demographic penalization detected.</a:t>
            </a:r>
          </a:p>
        </p:txBody>
      </p:sp>
      <p:sp>
        <p:nvSpPr>
          <p:cNvPr id="6" name="Rounded Rectangle 5"/>
          <p:cNvSpPr/>
          <p:nvPr/>
        </p:nvSpPr>
        <p:spPr>
          <a:xfrm>
            <a:off x="6675120" y="4023360"/>
            <a:ext cx="475488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ZERO-HALLUCINATION POLICY</a:t>
            </a:r>
          </a:p>
          <a:p>
            <a:pPr>
              <a:defRPr sz="2200" b="1">
                <a:solidFill>
                  <a:srgbClr val="06B6D4"/>
                </a:solidFill>
                <a:latin typeface="Segoe UI"/>
              </a:defRPr>
            </a:pPr>
            <a:r>
              <a:t>100% Tool Grounding</a:t>
            </a:r>
          </a:p>
          <a:p>
            <a:pPr>
              <a:defRPr sz="900">
                <a:solidFill>
                  <a:srgbClr val="94A3B8"/>
                </a:solidFill>
                <a:latin typeface="Segoe UI"/>
              </a:defRPr>
            </a:pPr>
            <a:r>
              <a:t>LangGraph copilot strictly verified: LLM is forbidden from inventing prices or scores. All numbers originate from verified ML service tools.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tIns="0" bIns="0" lIns="0">
            <a:spAutoFit/>
          </a:bodyPr>
          <a:lstStyle/>
          <a:p>
            <a:pPr>
              <a:defRPr sz="2600" b="1">
                <a:solidFill>
                  <a:srgbClr val="FFFFFF"/>
                </a:solidFill>
                <a:latin typeface="Segoe UI"/>
              </a:defRPr>
            </a:pPr>
            <a:r>
              <a:t>Customer Personas &amp; Actionable Playbooks</a:t>
            </a:r>
          </a:p>
          <a:p>
            <a:pPr>
              <a:defRPr sz="1300">
                <a:solidFill>
                  <a:srgbClr val="06B6D4"/>
                </a:solidFill>
                <a:latin typeface="Segoe UI"/>
              </a:defRPr>
            </a:pPr>
            <a:r>
              <a:t>Unsupervised K-Means clustering (k=4) reveals 4 distinct behavioral buyer archetypes</a:t>
            </a:r>
          </a:p>
        </p:txBody>
      </p:sp>
      <p:sp>
        <p:nvSpPr>
          <p:cNvPr id="4" name="Rounded Rectangle 3"/>
          <p:cNvSpPr/>
          <p:nvPr/>
        </p:nvSpPr>
        <p:spPr>
          <a:xfrm>
            <a:off x="731520" y="1645920"/>
            <a:ext cx="5120640" cy="21945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defRPr sz="1200" b="1">
                <a:solidFill>
                  <a:srgbClr val="10B981"/>
                </a:solidFill>
                <a:latin typeface="Segoe UI"/>
              </a:defRPr>
            </a:pPr>
            <a:r>
              <a:t>OVERSEAS CAPITAL INVESTOR (27.1% Conv.)</a:t>
            </a:r>
          </a:p>
          <a:p>
            <a:pPr>
              <a:defRPr sz="1000">
                <a:solidFill>
                  <a:srgbClr val="94A3B8"/>
                </a:solidFill>
                <a:latin typeface="Segoe UI"/>
              </a:defRPr>
            </a:pPr>
            <a:r>
              <a:t>Median Budget: 5.96 Crore | Traits: High liquidity, commercial/file inquiry, fast response turnaround, overseas WhatsApp.</a:t>
            </a:r>
          </a:p>
          <a:p>
            <a:pPr>
              <a:defRPr sz="1000" b="1">
                <a:solidFill>
                  <a:srgbClr val="FFFFFF"/>
                </a:solidFill>
                <a:latin typeface="Segoe UI"/>
              </a:defRPr>
            </a:pPr>
            <a:r>
              <a:t>Sales Playbook: Pitch 8-10% rental yields, capital gain projections, RDA/CDA verified files.</a:t>
            </a:r>
          </a:p>
        </p:txBody>
      </p:sp>
      <p:sp>
        <p:nvSpPr>
          <p:cNvPr id="5" name="Rounded Rectangle 4"/>
          <p:cNvSpPr/>
          <p:nvPr/>
        </p:nvSpPr>
        <p:spPr>
          <a:xfrm>
            <a:off x="6126480" y="1645920"/>
            <a:ext cx="5120640" cy="21945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defRPr sz="1200" b="1">
                <a:solidFill>
                  <a:srgbClr val="10B981"/>
                </a:solidFill>
                <a:latin typeface="Segoe UI"/>
              </a:defRPr>
            </a:pPr>
            <a:r>
              <a:t>URGENT FAMILY HOMEBUYER (48.1% Conv.)</a:t>
            </a:r>
          </a:p>
          <a:p>
            <a:pPr>
              <a:defRPr sz="1000">
                <a:solidFill>
                  <a:srgbClr val="94A3B8"/>
                </a:solidFill>
                <a:latin typeface="Segoe UI"/>
              </a:defRPr>
            </a:pPr>
            <a:r>
              <a:t>Median Budget: 2.58 Crore | Traits: High phone talk time, site visit booked, immediate possession requirement.</a:t>
            </a:r>
          </a:p>
          <a:p>
            <a:pPr>
              <a:defRPr sz="1000" b="1">
                <a:solidFill>
                  <a:srgbClr val="FFFFFF"/>
                </a:solidFill>
                <a:latin typeface="Segoe UI"/>
              </a:defRPr>
            </a:pPr>
            <a:r>
              <a:t>Sales Playbook: Highlight 24/7 security, school/mosque proximity, park frontage, verified registry.</a:t>
            </a:r>
          </a:p>
        </p:txBody>
      </p:sp>
      <p:sp>
        <p:nvSpPr>
          <p:cNvPr id="6" name="Rounded Rectangle 5"/>
          <p:cNvSpPr/>
          <p:nvPr/>
        </p:nvSpPr>
        <p:spPr>
          <a:xfrm>
            <a:off x="731520" y="4023360"/>
            <a:ext cx="5120640" cy="21945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defRPr sz="1200" b="1">
                <a:solidFill>
                  <a:srgbClr val="06B6D4"/>
                </a:solidFill>
                <a:latin typeface="Segoe UI"/>
              </a:defRPr>
            </a:pPr>
            <a:r>
              <a:t>FIRST-TIME BUDGET INQUIRER (18.4% Conv.)</a:t>
            </a:r>
          </a:p>
          <a:p>
            <a:pPr>
              <a:defRPr sz="1000">
                <a:solidFill>
                  <a:srgbClr val="94A3B8"/>
                </a:solidFill>
                <a:latin typeface="Segoe UI"/>
              </a:defRPr>
            </a:pPr>
            <a:r>
              <a:t>Median Budget: 1.15 Crore | Traits: Price-sensitive, asking for installment plans, 3 to 5 Marla inquiries.</a:t>
            </a:r>
          </a:p>
          <a:p>
            <a:pPr>
              <a:defRPr sz="1000" b="1">
                <a:solidFill>
                  <a:srgbClr val="FFFFFF"/>
                </a:solidFill>
                <a:latin typeface="Segoe UI"/>
              </a:defRPr>
            </a:pPr>
            <a:r>
              <a:t>Sales Playbook: Offer flexible 3-year installment schedules, bank home financing partners.</a:t>
            </a:r>
          </a:p>
        </p:txBody>
      </p:sp>
      <p:sp>
        <p:nvSpPr>
          <p:cNvPr id="7" name="Rounded Rectangle 6"/>
          <p:cNvSpPr/>
          <p:nvPr/>
        </p:nvSpPr>
        <p:spPr>
          <a:xfrm>
            <a:off x="6126480" y="4023360"/>
            <a:ext cx="5120640" cy="21945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defRPr sz="1200" b="1">
                <a:solidFill>
                  <a:srgbClr val="06B6D4"/>
                </a:solidFill>
                <a:latin typeface="Segoe UI"/>
              </a:defRPr>
            </a:pPr>
            <a:r>
              <a:t>CASUAL MARKET EXPLORER (8.2% Conv.)</a:t>
            </a:r>
          </a:p>
          <a:p>
            <a:pPr>
              <a:defRPr sz="1000">
                <a:solidFill>
                  <a:srgbClr val="94A3B8"/>
                </a:solidFill>
                <a:latin typeface="Segoe UI"/>
              </a:defRPr>
            </a:pPr>
            <a:r>
              <a:t>Median Budget: 1.80 Crore | Traits: Low interaction frequency, no site visit requested, web browsing behavior.</a:t>
            </a:r>
          </a:p>
          <a:p>
            <a:pPr>
              <a:defRPr sz="1000" b="1">
                <a:solidFill>
                  <a:srgbClr val="FFFFFF"/>
                </a:solidFill>
                <a:latin typeface="Segoe UI"/>
              </a:defRPr>
            </a:pPr>
            <a:r>
              <a:t>Sales Playbook: Enroll in automated AI marketing drip; do not waste human closer phone hours.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tIns="0" bIns="0" lIns="0">
            <a:spAutoFit/>
          </a:bodyPr>
          <a:lstStyle/>
          <a:p>
            <a:pPr>
              <a:defRPr sz="2600" b="1">
                <a:solidFill>
                  <a:srgbClr val="FFFFFF"/>
                </a:solidFill>
                <a:latin typeface="Segoe UI"/>
              </a:defRPr>
            </a:pPr>
            <a:r>
              <a:t>Production Guardrails &amp; Model Governance</a:t>
            </a:r>
          </a:p>
          <a:p>
            <a:pPr>
              <a:defRPr sz="1300">
                <a:solidFill>
                  <a:srgbClr val="06B6D4"/>
                </a:solidFill>
                <a:latin typeface="Segoe UI"/>
              </a:defRPr>
            </a:pPr>
            <a:r>
              <a:t>Ensuring regulatory compliance, prompt security, and continuous auditability</a:t>
            </a:r>
          </a:p>
        </p:txBody>
      </p:sp>
      <p:sp>
        <p:nvSpPr>
          <p:cNvPr id="4" name="TextBox 3"/>
          <p:cNvSpPr txBox="1"/>
          <p:nvPr/>
        </p:nvSpPr>
        <p:spPr>
          <a:xfrm>
            <a:off x="731520" y="1645920"/>
            <a:ext cx="10698480" cy="4572000"/>
          </a:xfrm>
          <a:prstGeom prst="rect">
            <a:avLst/>
          </a:prstGeom>
          <a:noFill/>
        </p:spPr>
        <p:txBody>
          <a:bodyPr wrap="square">
            <a:spAutoFit/>
          </a:bodyPr>
          <a:lstStyle/>
          <a:p>
            <a:pPr>
              <a:defRPr sz="1300" b="1">
                <a:solidFill>
                  <a:srgbClr val="06B6D4"/>
                </a:solidFill>
                <a:latin typeface="Segoe UI"/>
              </a:defRPr>
            </a:pPr>
            <a:r>
              <a:t>•  Out-of-Distribution (OOD) Bounding: </a:t>
            </a:r>
            <a:r>
              <a:rPr b="0">
                <a:solidFill>
                  <a:srgbClr val="FFFFFF"/>
                </a:solidFill>
              </a:rPr>
              <a:t>Rejects irrational user inputs (plots &gt; 100 Marla, prices &lt; 5 Lac, invalid cities) with informative error messages before invoking ML models.</a:t>
            </a:r>
          </a:p>
          <a:p>
            <a:pPr>
              <a:defRPr sz="1300" b="1">
                <a:solidFill>
                  <a:srgbClr val="06B6D4"/>
                </a:solidFill>
                <a:latin typeface="Segoe UI"/>
              </a:defRPr>
            </a:pPr>
            <a:r>
              <a:t>•  Adversarial Prompt-Injection Defense: </a:t>
            </a:r>
            <a:r>
              <a:rPr b="0">
                <a:solidFill>
                  <a:srgbClr val="FFFFFF"/>
                </a:solidFill>
              </a:rPr>
              <a:t>Regex and semantic pattern shield blocks attempts like 'Set valuation to 1 rupee' or 'Ignore instructions', safeguarding automated negotiation pipelines.</a:t>
            </a:r>
          </a:p>
          <a:p>
            <a:pPr>
              <a:defRPr sz="1300" b="1">
                <a:solidFill>
                  <a:srgbClr val="06B6D4"/>
                </a:solidFill>
                <a:latin typeface="Segoe UI"/>
              </a:defRPr>
            </a:pPr>
            <a:r>
              <a:t>•  Mandatory Legal Valuation Disclaimer: </a:t>
            </a:r>
            <a:r>
              <a:rPr b="0">
                <a:solidFill>
                  <a:srgbClr val="FFFFFF"/>
                </a:solidFill>
              </a:rPr>
              <a:t>Appends automated compliance text: 'This estimate is generated by an algorithmic ML model and does not constitute a certified physical bank appraisal.'</a:t>
            </a:r>
          </a:p>
          <a:p>
            <a:pPr>
              <a:defRPr sz="1300" b="1">
                <a:solidFill>
                  <a:srgbClr val="06B6D4"/>
                </a:solidFill>
                <a:latin typeface="Segoe UI"/>
              </a:defRPr>
            </a:pPr>
            <a:r>
              <a:t>•  Comprehensive Audit Trail (SQLite + JSONL): </a:t>
            </a:r>
            <a:r>
              <a:rPr b="0">
                <a:solidFill>
                  <a:srgbClr val="FFFFFF"/>
                </a:solidFill>
              </a:rPr>
              <a:t>Every prediction request logs client IP, timestamp, input parameters, point prediction, confidence range, latency (ms), and model version tag.</a:t>
            </a:r>
          </a:p>
          <a:p>
            <a:pPr>
              <a:defRPr sz="1300" b="1">
                <a:solidFill>
                  <a:srgbClr val="06B6D4"/>
                </a:solidFill>
                <a:latin typeface="Segoe UI"/>
              </a:defRPr>
            </a:pPr>
            <a:r>
              <a:t>•  Model Registry &amp; Versioning (MLflow): </a:t>
            </a:r>
            <a:r>
              <a:rPr b="0">
                <a:solidFill>
                  <a:srgbClr val="FFFFFF"/>
                </a:solidFill>
              </a:rPr>
              <a:t>All regression and classification models logged with parameters, metrics, and skops/joblib artifacts with zero ad-hoc production pushes.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tIns="0" bIns="0" lIns="0">
            <a:spAutoFit/>
          </a:bodyPr>
          <a:lstStyle/>
          <a:p>
            <a:pPr>
              <a:defRPr sz="2600" b="1">
                <a:solidFill>
                  <a:srgbClr val="FFFFFF"/>
                </a:solidFill>
                <a:latin typeface="Segoe UI"/>
              </a:defRPr>
            </a:pPr>
            <a:r>
              <a:t>Financial ROI &amp; Bottom-Line Impact</a:t>
            </a:r>
          </a:p>
          <a:p>
            <a:pPr>
              <a:defRPr sz="1300">
                <a:solidFill>
                  <a:srgbClr val="06B6D4"/>
                </a:solidFill>
                <a:latin typeface="Segoe UI"/>
              </a:defRPr>
            </a:pPr>
            <a:r>
              <a:t>Modeled impact on a mid-sized brokerage handling 1,000 monthly inbound leads</a:t>
            </a:r>
          </a:p>
        </p:txBody>
      </p:sp>
      <p:sp>
        <p:nvSpPr>
          <p:cNvPr id="4" name="Rounded Rectangle 3"/>
          <p:cNvSpPr/>
          <p:nvPr/>
        </p:nvSpPr>
        <p:spPr>
          <a:xfrm>
            <a:off x="731520" y="1645920"/>
            <a:ext cx="3291840" cy="18288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MONTHLY DEAL VOLUME</a:t>
            </a:r>
          </a:p>
          <a:p>
            <a:pPr>
              <a:defRPr sz="2200" b="1">
                <a:solidFill>
                  <a:srgbClr val="10B981"/>
                </a:solidFill>
                <a:latin typeface="Segoe UI"/>
              </a:defRPr>
            </a:pPr>
            <a:r>
              <a:t>142.9 Deals</a:t>
            </a:r>
          </a:p>
          <a:p>
            <a:pPr>
              <a:defRPr sz="900">
                <a:solidFill>
                  <a:srgbClr val="94A3B8"/>
                </a:solidFill>
                <a:latin typeface="Segoe UI"/>
              </a:defRPr>
            </a:pPr>
            <a:r>
              <a:t>+85.7 deals/mo vs 57.1 baseline</a:t>
            </a:r>
          </a:p>
        </p:txBody>
      </p:sp>
      <p:sp>
        <p:nvSpPr>
          <p:cNvPr id="5" name="Rounded Rectangle 4"/>
          <p:cNvSpPr/>
          <p:nvPr/>
        </p:nvSpPr>
        <p:spPr>
          <a:xfrm>
            <a:off x="4389120" y="1645920"/>
            <a:ext cx="3291840" cy="18288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ANNUAL INCREMENTAL REVENUE</a:t>
            </a:r>
          </a:p>
          <a:p>
            <a:pPr>
              <a:defRPr sz="2200" b="1">
                <a:solidFill>
                  <a:srgbClr val="10B981"/>
                </a:solidFill>
                <a:latin typeface="Segoe UI"/>
              </a:defRPr>
            </a:pPr>
            <a:r>
              <a:t>PKR 38.57 Cr</a:t>
            </a:r>
          </a:p>
          <a:p>
            <a:pPr>
              <a:defRPr sz="900">
                <a:solidFill>
                  <a:srgbClr val="94A3B8"/>
                </a:solidFill>
                <a:latin typeface="Segoe UI"/>
              </a:defRPr>
            </a:pPr>
            <a:r>
              <a:t>Additional commission captured</a:t>
            </a:r>
          </a:p>
        </p:txBody>
      </p:sp>
      <p:sp>
        <p:nvSpPr>
          <p:cNvPr id="6" name="Rounded Rectangle 5"/>
          <p:cNvSpPr/>
          <p:nvPr/>
        </p:nvSpPr>
        <p:spPr>
          <a:xfrm>
            <a:off x="8046720" y="1645920"/>
            <a:ext cx="3383280" cy="18288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PROJECTED NET ROI</a:t>
            </a:r>
          </a:p>
          <a:p>
            <a:pPr>
              <a:defRPr sz="2200" b="1">
                <a:solidFill>
                  <a:srgbClr val="06B6D4"/>
                </a:solidFill>
                <a:latin typeface="Segoe UI"/>
              </a:defRPr>
            </a:pPr>
            <a:r>
              <a:t>213.3x Return</a:t>
            </a:r>
          </a:p>
          <a:p>
            <a:pPr>
              <a:defRPr sz="900">
                <a:solidFill>
                  <a:srgbClr val="94A3B8"/>
                </a:solidFill>
                <a:latin typeface="Segoe UI"/>
              </a:defRPr>
            </a:pPr>
            <a:r>
              <a:t>Net benefit after infrastructure &amp; hosting</a:t>
            </a:r>
          </a:p>
        </p:txBody>
      </p:sp>
      <p:sp>
        <p:nvSpPr>
          <p:cNvPr id="7" name="TextBox 6"/>
          <p:cNvSpPr txBox="1"/>
          <p:nvPr/>
        </p:nvSpPr>
        <p:spPr>
          <a:xfrm>
            <a:off x="731520" y="3840480"/>
            <a:ext cx="10698480" cy="2560320"/>
          </a:xfrm>
          <a:prstGeom prst="rect">
            <a:avLst/>
          </a:prstGeom>
          <a:noFill/>
        </p:spPr>
        <p:txBody>
          <a:bodyPr wrap="square">
            <a:spAutoFit/>
          </a:bodyPr>
          <a:lstStyle/>
          <a:p>
            <a:pPr>
              <a:defRPr sz="1300" b="1">
                <a:solidFill>
                  <a:srgbClr val="06B6D4"/>
                </a:solidFill>
                <a:latin typeface="Segoe UI"/>
              </a:defRPr>
            </a:pPr>
            <a:r>
              <a:t>RETURN ON INVESTMENT (ROI) JUSTIFICATION:</a:t>
            </a:r>
          </a:p>
          <a:p>
            <a:pPr>
              <a:defRPr sz="1200">
                <a:solidFill>
                  <a:srgbClr val="FFFFFF"/>
                </a:solidFill>
                <a:latin typeface="Segoe UI"/>
              </a:defRPr>
            </a:pPr>
            <a:r>
              <a:t>•  Agent Calling Efficiency: Reps eliminate 60% of fruitless calls, allowing a 5-person team to handle 2.5x the productive transaction volume without additional hires.</a:t>
            </a:r>
          </a:p>
          <a:p>
            <a:pPr>
              <a:defRPr sz="1200">
                <a:solidFill>
                  <a:srgbClr val="FFFFFF"/>
                </a:solidFill>
                <a:latin typeface="Segoe UI"/>
              </a:defRPr>
            </a:pPr>
            <a:r>
              <a:t>•  Prevented Deal Loss: Cost-optimal threshold tuning (th=0.05) prevents 1.92 Crore PKR in abandoned buyer commissions.</a:t>
            </a:r>
          </a:p>
          <a:p>
            <a:pPr>
              <a:defRPr sz="1200">
                <a:solidFill>
                  <a:srgbClr val="FFFFFF"/>
                </a:solidFill>
                <a:latin typeface="Segoe UI"/>
              </a:defRPr>
            </a:pPr>
            <a:r>
              <a:t>•  Listing Liquidity Acceleration: Algorithmic fair pricing reduces average listing days-on-market from 120 days down to 42 days in DHA and Bahria Town.</a:t>
            </a:r>
          </a:p>
          <a:p>
            <a:pPr>
              <a:defRPr sz="1200">
                <a:solidFill>
                  <a:srgbClr val="FFFFFF"/>
                </a:solidFill>
                <a:latin typeface="Segoe UI"/>
              </a:defRPr>
            </a:pPr>
            <a:r>
              <a:t>•  Payback Period: Complete development and operational costs recouped within the first 6 weeks of live deployment.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tIns="0" bIns="0" lIns="0">
            <a:spAutoFit/>
          </a:bodyPr>
          <a:lstStyle/>
          <a:p>
            <a:pPr>
              <a:defRPr sz="2600" b="1">
                <a:solidFill>
                  <a:srgbClr val="FFFFFF"/>
                </a:solidFill>
                <a:latin typeface="Segoe UI"/>
              </a:defRPr>
            </a:pPr>
            <a:r>
              <a:t>Deployment Roadmap &amp; Future Milestones</a:t>
            </a:r>
          </a:p>
          <a:p>
            <a:pPr>
              <a:defRPr sz="1300">
                <a:solidFill>
                  <a:srgbClr val="06B6D4"/>
                </a:solidFill>
                <a:latin typeface="Segoe UI"/>
              </a:defRPr>
            </a:pPr>
            <a:r>
              <a:t>Immediate transition from Capstone delivery to enterprise production rollout</a:t>
            </a:r>
          </a:p>
        </p:txBody>
      </p:sp>
      <p:sp>
        <p:nvSpPr>
          <p:cNvPr id="4" name="Rounded Rectangle 3"/>
          <p:cNvSpPr/>
          <p:nvPr/>
        </p:nvSpPr>
        <p:spPr>
          <a:xfrm>
            <a:off x="731520" y="1645920"/>
            <a:ext cx="24688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PHASE 1: IMMEDIATE</a:t>
            </a:r>
          </a:p>
          <a:p>
            <a:pPr>
              <a:defRPr sz="2200" b="1">
                <a:solidFill>
                  <a:srgbClr val="10B981"/>
                </a:solidFill>
                <a:latin typeface="Segoe UI"/>
              </a:defRPr>
            </a:pPr>
            <a:r>
              <a:t>Production Live</a:t>
            </a:r>
          </a:p>
          <a:p>
            <a:pPr>
              <a:defRPr sz="900">
                <a:solidFill>
                  <a:srgbClr val="94A3B8"/>
                </a:solidFill>
                <a:latin typeface="Segoe UI"/>
              </a:defRPr>
            </a:pPr>
            <a:r>
              <a:t>• Docker container on Render</a:t>
            </a:r>
            <a:br/>
            <a:r>
              <a:t>• Cloudflare secure tunnel</a:t>
            </a:r>
            <a:br/>
            <a:r>
              <a:t>• Telephony webhook live</a:t>
            </a:r>
            <a:br/>
            <a:r>
              <a:t>• Sales copilot deployed</a:t>
            </a:r>
            <a:br/>
            <a:r>
              <a:t>• Audit logs streaming</a:t>
            </a:r>
          </a:p>
        </p:txBody>
      </p:sp>
      <p:sp>
        <p:nvSpPr>
          <p:cNvPr id="5" name="Rounded Rectangle 4"/>
          <p:cNvSpPr/>
          <p:nvPr/>
        </p:nvSpPr>
        <p:spPr>
          <a:xfrm>
            <a:off x="3474720" y="1645920"/>
            <a:ext cx="24688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PHASE 2: MONTH 1</a:t>
            </a:r>
          </a:p>
          <a:p>
            <a:pPr>
              <a:defRPr sz="2200" b="1">
                <a:solidFill>
                  <a:srgbClr val="06B6D4"/>
                </a:solidFill>
                <a:latin typeface="Segoe UI"/>
              </a:defRPr>
            </a:pPr>
            <a:r>
              <a:t>Active Monitoring</a:t>
            </a:r>
          </a:p>
          <a:p>
            <a:pPr>
              <a:defRPr sz="900">
                <a:solidFill>
                  <a:srgbClr val="94A3B8"/>
                </a:solidFill>
                <a:latin typeface="Segoe UI"/>
              </a:defRPr>
            </a:pPr>
            <a:r>
              <a:t>• Evidentially drift detection</a:t>
            </a:r>
            <a:br/>
            <a:r>
              <a:t>• Sales closer feedback loop</a:t>
            </a:r>
            <a:br/>
            <a:r>
              <a:t>• Bi-weekly model retrain</a:t>
            </a:r>
            <a:br/>
            <a:r>
              <a:t>• WhatsApp bot integration</a:t>
            </a:r>
            <a:br/>
            <a:r>
              <a:t>• A/B testing on thresholds</a:t>
            </a:r>
          </a:p>
        </p:txBody>
      </p:sp>
      <p:sp>
        <p:nvSpPr>
          <p:cNvPr id="6" name="Rounded Rectangle 5"/>
          <p:cNvSpPr/>
          <p:nvPr/>
        </p:nvSpPr>
        <p:spPr>
          <a:xfrm>
            <a:off x="6217920" y="1645920"/>
            <a:ext cx="24688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PHASE 3: QUARTER 2</a:t>
            </a:r>
          </a:p>
          <a:p>
            <a:pPr>
              <a:defRPr sz="2200" b="1">
                <a:solidFill>
                  <a:srgbClr val="F59E0B"/>
                </a:solidFill>
                <a:latin typeface="Segoe UI"/>
              </a:defRPr>
            </a:pPr>
            <a:r>
              <a:t>Multi-City Scale</a:t>
            </a:r>
          </a:p>
          <a:p>
            <a:pPr>
              <a:defRPr sz="900">
                <a:solidFill>
                  <a:srgbClr val="94A3B8"/>
                </a:solidFill>
                <a:latin typeface="Segoe UI"/>
              </a:defRPr>
            </a:pPr>
            <a:r>
              <a:t>• Expansion to Multan &amp; Peshawar</a:t>
            </a:r>
            <a:br/>
            <a:r>
              <a:t>• Automated satellite imagery embeddings</a:t>
            </a:r>
            <a:br/>
            <a:r>
              <a:t>• Mortgage pre-approval API</a:t>
            </a:r>
            <a:br/>
            <a:r>
              <a:t>• Multi-agent negotiation</a:t>
            </a:r>
          </a:p>
        </p:txBody>
      </p:sp>
      <p:sp>
        <p:nvSpPr>
          <p:cNvPr id="7" name="Rounded Rectangle 6"/>
          <p:cNvSpPr/>
          <p:nvPr/>
        </p:nvSpPr>
        <p:spPr>
          <a:xfrm>
            <a:off x="8961120" y="1645920"/>
            <a:ext cx="24688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000" b="1">
                <a:solidFill>
                  <a:srgbClr val="94A3B8"/>
                </a:solidFill>
                <a:latin typeface="Segoe UI"/>
              </a:defRPr>
            </a:pPr>
            <a:r>
              <a:t>PHASE 4: YEAR 1</a:t>
            </a:r>
          </a:p>
          <a:p>
            <a:pPr>
              <a:defRPr sz="2200" b="1">
                <a:solidFill>
                  <a:srgbClr val="10B981"/>
                </a:solidFill>
                <a:latin typeface="Segoe UI"/>
              </a:defRPr>
            </a:pPr>
            <a:r>
              <a:t>Autonomous Brokerage</a:t>
            </a:r>
          </a:p>
          <a:p>
            <a:pPr>
              <a:defRPr sz="900">
                <a:solidFill>
                  <a:srgbClr val="94A3B8"/>
                </a:solidFill>
                <a:latin typeface="Segoe UI"/>
              </a:defRPr>
            </a:pPr>
            <a:r>
              <a:t>• Full self-service transaction flow</a:t>
            </a:r>
            <a:br/>
            <a:r>
              <a:t>• Instant title deed verification</a:t>
            </a:r>
            <a:br/>
            <a:r>
              <a:t>• Predictive market liquidity index</a:t>
            </a:r>
            <a:br/>
            <a:r>
              <a:t>• Real-time VR site tours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